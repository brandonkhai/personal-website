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9" r:id="rId1"/>
    <p:sldMasterId id="2147483932" r:id="rId2"/>
  </p:sldMasterIdLst>
  <p:notesMasterIdLst>
    <p:notesMasterId r:id="rId59"/>
  </p:notesMasterIdLst>
  <p:sldIdLst>
    <p:sldId id="545" r:id="rId3"/>
    <p:sldId id="458" r:id="rId4"/>
    <p:sldId id="509" r:id="rId5"/>
    <p:sldId id="460" r:id="rId6"/>
    <p:sldId id="461" r:id="rId7"/>
    <p:sldId id="462" r:id="rId8"/>
    <p:sldId id="463" r:id="rId9"/>
    <p:sldId id="578" r:id="rId10"/>
    <p:sldId id="516" r:id="rId11"/>
    <p:sldId id="546" r:id="rId12"/>
    <p:sldId id="513" r:id="rId13"/>
    <p:sldId id="467" r:id="rId14"/>
    <p:sldId id="468" r:id="rId15"/>
    <p:sldId id="547" r:id="rId16"/>
    <p:sldId id="474" r:id="rId17"/>
    <p:sldId id="475" r:id="rId18"/>
    <p:sldId id="517" r:id="rId19"/>
    <p:sldId id="479" r:id="rId20"/>
    <p:sldId id="518" r:id="rId21"/>
    <p:sldId id="536" r:id="rId22"/>
    <p:sldId id="555" r:id="rId23"/>
    <p:sldId id="575" r:id="rId24"/>
    <p:sldId id="519" r:id="rId25"/>
    <p:sldId id="572" r:id="rId26"/>
    <p:sldId id="522" r:id="rId27"/>
    <p:sldId id="485" r:id="rId28"/>
    <p:sldId id="481" r:id="rId29"/>
    <p:sldId id="569" r:id="rId30"/>
    <p:sldId id="523" r:id="rId31"/>
    <p:sldId id="527" r:id="rId32"/>
    <p:sldId id="528" r:id="rId33"/>
    <p:sldId id="573" r:id="rId34"/>
    <p:sldId id="525" r:id="rId35"/>
    <p:sldId id="531" r:id="rId36"/>
    <p:sldId id="571" r:id="rId37"/>
    <p:sldId id="570" r:id="rId38"/>
    <p:sldId id="559" r:id="rId39"/>
    <p:sldId id="563" r:id="rId40"/>
    <p:sldId id="549" r:id="rId41"/>
    <p:sldId id="567" r:id="rId42"/>
    <p:sldId id="532" r:id="rId43"/>
    <p:sldId id="487" r:id="rId44"/>
    <p:sldId id="576" r:id="rId45"/>
    <p:sldId id="533" r:id="rId46"/>
    <p:sldId id="574" r:id="rId47"/>
    <p:sldId id="535" r:id="rId48"/>
    <p:sldId id="551" r:id="rId49"/>
    <p:sldId id="538" r:id="rId50"/>
    <p:sldId id="552" r:id="rId51"/>
    <p:sldId id="553" r:id="rId52"/>
    <p:sldId id="577" r:id="rId53"/>
    <p:sldId id="524" r:id="rId54"/>
    <p:sldId id="526" r:id="rId55"/>
    <p:sldId id="554" r:id="rId56"/>
    <p:sldId id="507" r:id="rId57"/>
    <p:sldId id="511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FFCC"/>
    <a:srgbClr val="FFF2CC"/>
    <a:srgbClr val="FFFFC5"/>
    <a:srgbClr val="99FF33"/>
    <a:srgbClr val="CCFF33"/>
    <a:srgbClr val="FFFFB7"/>
    <a:srgbClr val="FFFF99"/>
    <a:srgbClr val="CCECFF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7" autoAdjust="0"/>
    <p:restoredTop sz="88497" autoAdjust="0"/>
  </p:normalViewPr>
  <p:slideViewPr>
    <p:cSldViewPr snapToGrid="0">
      <p:cViewPr varScale="1">
        <p:scale>
          <a:sx n="70" d="100"/>
          <a:sy n="70" d="100"/>
        </p:scale>
        <p:origin x="82" y="221"/>
      </p:cViewPr>
      <p:guideLst/>
    </p:cSldViewPr>
  </p:slideViewPr>
  <p:outlineViewPr>
    <p:cViewPr>
      <p:scale>
        <a:sx n="33" d="100"/>
        <a:sy n="33" d="100"/>
      </p:scale>
      <p:origin x="0" y="-2826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7" d="100"/>
          <a:sy n="47" d="100"/>
        </p:scale>
        <p:origin x="2576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28DB6-070F-4E22-88BF-CB3019ADB689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35B5A-A930-424D-8B1E-FFB50F6DE9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069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35B5A-A930-424D-8B1E-FFB50F6DE97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2457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35B5A-A930-424D-8B1E-FFB50F6DE97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2282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5B5A-A930-424D-8B1E-FFB50F6DE97C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551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7A9F4-1FE4-2CCC-781D-76CF68B2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826DDA-80DB-C4FD-BDE9-D68F8CE01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6B37E-C06F-0248-F3DC-230A31E2B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7E710-27C2-3FE5-06D5-438063F61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5B5A-A930-424D-8B1E-FFB50F6DE97C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111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5B5A-A930-424D-8B1E-FFB50F6DE97C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95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5962-40C7-4223-8ED1-8C554D3C6D9D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3935C-67E3-4721-8678-F1F9B557341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704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5962-40C7-4223-8ED1-8C554D3C6D9D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3935C-67E3-4721-8678-F1F9B557341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181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5962-40C7-4223-8ED1-8C554D3C6D9D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3935C-67E3-4721-8678-F1F9B557341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17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5962-40C7-4223-8ED1-8C554D3C6D9D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3935C-67E3-4721-8678-F1F9B557341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291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5962-40C7-4223-8ED1-8C554D3C6D9D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3935C-67E3-4721-8678-F1F9B557341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77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5962-40C7-4223-8ED1-8C554D3C6D9D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3935C-67E3-4721-8678-F1F9B557341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499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5962-40C7-4223-8ED1-8C554D3C6D9D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3935C-67E3-4721-8678-F1F9B557341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826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5962-40C7-4223-8ED1-8C554D3C6D9D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3935C-67E3-4721-8678-F1F9B557341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606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5962-40C7-4223-8ED1-8C554D3C6D9D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3935C-67E3-4721-8678-F1F9B557341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633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5962-40C7-4223-8ED1-8C554D3C6D9D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3935C-67E3-4721-8678-F1F9B557341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672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5962-40C7-4223-8ED1-8C554D3C6D9D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3935C-67E3-4721-8678-F1F9B557341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451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AE76F-2D49-4A15-893E-EF76C4125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775AA4-50EF-490C-970A-EA5761935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5C801-A96F-43EE-AD17-220BDDFD9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8C8E-3175-425C-948F-08F0AA94AC23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8305D-605A-4E30-9CDC-0C4C5F282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7B6A5-999A-49F2-A679-79740856C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A19C-C1A3-400B-B0D2-1A7060663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117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93229-CB8C-4149-9FE0-729E5485B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41BC9-20A4-4B16-83DB-DC57B27BF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6B8DE-2DA4-4A25-8726-249A9E68F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8C8E-3175-425C-948F-08F0AA94AC23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A5901-ED17-46A6-BE3A-5570DA232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D916A-4F86-4AA8-97B2-9FF56D5A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A19C-C1A3-400B-B0D2-1A7060663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018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E3F7B-7BCB-47F3-8417-8927830A6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77D7F-6070-442B-BCB4-4255E376F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733C2-B31E-4553-8E93-F052714D1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8C8E-3175-425C-948F-08F0AA94AC23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04ACB-A6CA-4FDB-B3BC-AD79A6E9A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D00EF-8FB0-4E75-A9E3-C35C4DD2F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A19C-C1A3-400B-B0D2-1A7060663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6333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7CA9D-278B-4A2C-B493-5AE67E384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25D05-1725-4E28-A9F7-04AC4E4BF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508C0E-AB96-405A-AE53-F844DD43B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4F421-5622-40D3-8133-D27F6F816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8C8E-3175-425C-948F-08F0AA94AC23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0556B3-03F4-42B8-A2A8-AEF07746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36B2E-F306-4D76-8147-F3C280B37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A19C-C1A3-400B-B0D2-1A7060663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674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789F9-9456-494D-ACCC-718D52039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DF0D2-06DD-4B8A-8CD0-17E509F81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1B5CF-A9A6-43C6-B4D7-A37C6C000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992D23-3C8C-4D2A-876F-A784859C9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01D7DF-A00E-4BC6-9B0C-A8B0A1AF41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9A143E-2818-4CC1-B24B-2D415B88A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8C8E-3175-425C-948F-08F0AA94AC23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C2DC04-C651-4FF2-8487-900859DC7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EA326C-B242-4D78-A541-C2A0CD40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A19C-C1A3-400B-B0D2-1A7060663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472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B4458-2968-46DE-938A-1CBD53537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1AA2E1-DD4D-4914-AC1B-66726B67C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8C8E-3175-425C-948F-08F0AA94AC23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7E32D8-0A1C-4DC8-8D06-83F9A8A80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82065-F10A-46E4-B335-A36FC74C4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A19C-C1A3-400B-B0D2-1A7060663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975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D2473F-9BC3-49EC-A89D-6F6AB48B5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8C8E-3175-425C-948F-08F0AA94AC23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47F9FA-1D28-479F-9032-FB3D72EF5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FF21D-4FC2-411E-8F3C-B84C0620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A19C-C1A3-400B-B0D2-1A7060663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5847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2E326-644A-44F1-A4A5-8CDECBE97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C27F3-6F75-4DF2-91C2-B4E3EAAC6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0FD1F-EE19-4362-B1C5-0938A1513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6C3DC4-F5E4-4951-A372-638A05E57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8C8E-3175-425C-948F-08F0AA94AC23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376B8-AD80-446B-8B62-18214FC2D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3ECE7-B750-45C0-A53A-DE04EBB1E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A19C-C1A3-400B-B0D2-1A7060663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126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1272-AF9E-4298-8626-C4BE17DD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482C89-4DB9-4220-B6E4-0BF3EB6DF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3A4BF-A3E3-4F0B-A662-729441F17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55333-E7BA-4CB9-ABCE-38244C6AF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8C8E-3175-425C-948F-08F0AA94AC23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29692-6F41-4575-BC67-C78F2CED2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732C3-D6AD-4BB2-A7DD-27CAF96C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A19C-C1A3-400B-B0D2-1A7060663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4745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612A5-8576-47BF-A7B6-07F5D66D6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172781-B116-45C6-876D-14ECEA6E4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A331C-465D-4BFA-B1E0-FEDFDBD83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8C8E-3175-425C-948F-08F0AA94AC23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FD9D2-3C2B-4981-8F62-25F46A3BB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1DEEE-DFA8-459C-9FF9-EC0A27B5B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A19C-C1A3-400B-B0D2-1A7060663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5773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036D30-7B70-4C68-BA04-B6536AB7F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A07B43-4403-4CC2-B4F2-BE15AC9E8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6E814-F2D7-4247-A246-F2EABF235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C8C8E-3175-425C-948F-08F0AA94AC23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6C279-6958-475C-9625-2655FD4D6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3874A-B639-406F-9472-970DB0DFA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A19C-C1A3-400B-B0D2-1A7060663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67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35962-40C7-4223-8ED1-8C554D3C6D9D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3935C-67E3-4721-8678-F1F9B557341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018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29ECEB-40D4-44AE-86E4-97F266535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FB749-D297-4AD4-A64A-1F86483A6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B700D-38E7-437D-B052-DF6209410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8C8C8E-3175-425C-948F-08F0AA94AC23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3EA87-8FED-4DE7-B503-0B6571A9B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F8A9F-D384-45AB-94F1-3EF4141DE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7A19C-C1A3-400B-B0D2-1A7060663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16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3" r:id="rId1"/>
    <p:sldLayoutId id="2147483934" r:id="rId2"/>
    <p:sldLayoutId id="2147483935" r:id="rId3"/>
    <p:sldLayoutId id="2147483936" r:id="rId4"/>
    <p:sldLayoutId id="2147483937" r:id="rId5"/>
    <p:sldLayoutId id="2147483938" r:id="rId6"/>
    <p:sldLayoutId id="2147483939" r:id="rId7"/>
    <p:sldLayoutId id="2147483940" r:id="rId8"/>
    <p:sldLayoutId id="2147483941" r:id="rId9"/>
    <p:sldLayoutId id="2147483942" r:id="rId10"/>
    <p:sldLayoutId id="21474839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file:///\\upload.wikimedia.org\wikipedia\en\6\6d\Superdome_Tulane.jpg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png"/><Relationship Id="rId11" Type="http://schemas.openxmlformats.org/officeDocument/2006/relationships/image" Target="../media/image19.JP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4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1.pn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1.png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2.png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rlz=1C1GCEA_enUS1107US1107&amp;cs=1&amp;sca_esv=792560e52f66799b&amp;sxsrf=AE3TifMLqgok3k47IO5dBDDXMqFChYLDtA%3A1758513643463&amp;q=Enabling+Parallelization&amp;sa=X&amp;ved=2ahUKEwj8pKfoveuPAxWnRjABHe4uCpcQxccNegQIKxAD&amp;mstk=AUtExfDFL4ImK5WozO8AISk9huXP7Khe9kwfpdOG6Pq3GXj8bfnTHgWiG6ssOnFxqq-NcAnCCvksDaTgouLRR8r1RGJuHYAky0mQcKRFGqBS2S-gblZI-ANX1GPcE05KSNKUE9RhPAAgyQDyh_0D_UMyIRkQLTdh2TNXSatw1TYRg-9-gpI&amp;csui=3" TargetMode="External"/><Relationship Id="rId3" Type="http://schemas.openxmlformats.org/officeDocument/2006/relationships/image" Target="../media/image7.png"/><Relationship Id="rId7" Type="http://schemas.openxmlformats.org/officeDocument/2006/relationships/hyperlink" Target="https://www.google.com/search?rlz=1C1GCEA_enUS1107US1107&amp;cs=1&amp;sca_esv=792560e52f66799b&amp;sxsrf=AE3TifMLqgok3k47IO5dBDDXMqFChYLDtA%3A1758513643463&amp;q=Understanding+Context+and+Relevance&amp;sa=X&amp;ved=2ahUKEwj8pKfoveuPAxWnRjABHe4uCpcQxccNegQIMBAD&amp;mstk=AUtExfDFL4ImK5WozO8AISk9huXP7Khe9kwfpdOG6Pq3GXj8bfnTHgWiG6ssOnFxqq-NcAnCCvksDaTgouLRR8r1RGJuHYAky0mQcKRFGqBS2S-gblZI-ANX1GPcE05KSNKUE9RhPAAgyQDyh_0D_UMyIRkQLTdh2TNXSatw1TYRg-9-gpI&amp;csui=3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www.google.com/search?rlz=1C1GCEA_enUS1107US1107&amp;cs=1&amp;sca_esv=792560e52f66799b&amp;sxsrf=AE3TifMLqgok3k47IO5dBDDXMqFChYLDtA%3A1758513643463&amp;q=Capturing+Long-Range+Dependencies&amp;sa=X&amp;ved=2ahUKEwj8pKfoveuPAxWnRjABHe4uCpcQxccNegQIIhAD&amp;mstk=AUtExfDFL4ImK5WozO8AISk9huXP7Khe9kwfpdOG6Pq3GXj8bfnTHgWiG6ssOnFxqq-NcAnCCvksDaTgouLRR8r1RGJuHYAky0mQcKRFGqBS2S-gblZI-ANX1GPcE05KSNKUE9RhPAAgyQDyh_0D_UMyIRkQLTdh2TNXSatw1TYRg-9-gpI&amp;csui=3" TargetMode="External"/><Relationship Id="rId5" Type="http://schemas.openxmlformats.org/officeDocument/2006/relationships/image" Target="../media/image10.png"/><Relationship Id="rId4" Type="http://schemas.microsoft.com/office/2007/relationships/hdphoto" Target="../media/hdphoto1.wdp"/><Relationship Id="rId9" Type="http://schemas.openxmlformats.org/officeDocument/2006/relationships/hyperlink" Target="https://www.google.com/search?rlz=1C1GCEA_enUS1107US1107&amp;cs=1&amp;sca_esv=792560e52f66799b&amp;sxsrf=AE3TifMLqgok3k47IO5dBDDXMqFChYLDtA%3A1758513643463&amp;q=Holistic+Data+Understanding&amp;sa=X&amp;ved=2ahUKEwj8pKfoveuPAxWnRjABHe4uCpcQxccNegQILxAD&amp;mstk=AUtExfDFL4ImK5WozO8AISk9huXP7Khe9kwfpdOG6Pq3GXj8bfnTHgWiG6ssOnFxqq-NcAnCCvksDaTgouLRR8r1RGJuHYAky0mQcKRFGqBS2S-gblZI-ANX1GPcE05KSNKUE9RhPAAgyQDyh_0D_UMyIRkQLTdh2TNXSatw1TYRg-9-gpI&amp;csui=3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7.png"/><Relationship Id="rId4" Type="http://schemas.microsoft.com/office/2017/06/relationships/model3d" Target="../media/model3d1.glb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bing.com/search?q=Attention+is+all+you+need+paper+reference+listing+format" TargetMode="External"/><Relationship Id="rId4" Type="http://schemas.openxmlformats.org/officeDocument/2006/relationships/image" Target="../media/image41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bing.com/search?q=Attention+is+all+you+need+paper+reference+listing+format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3.jpg"/><Relationship Id="rId4" Type="http://schemas.openxmlformats.org/officeDocument/2006/relationships/image" Target="../media/image42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eg"/><Relationship Id="rId3" Type="http://schemas.openxmlformats.org/officeDocument/2006/relationships/hyperlink" Target="mailto:jnguye2@tulane.edu" TargetMode="External"/><Relationship Id="rId7" Type="http://schemas.openxmlformats.org/officeDocument/2006/relationships/image" Target="../media/image4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4.jpg"/><Relationship Id="rId11" Type="http://schemas.openxmlformats.org/officeDocument/2006/relationships/image" Target="../media/image49.jpeg"/><Relationship Id="rId5" Type="http://schemas.openxmlformats.org/officeDocument/2006/relationships/image" Target="../media/image43.jp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rcuit board in the shape of a brain&#10;&#10;AI-generated content may be incorrect.">
            <a:extLst>
              <a:ext uri="{FF2B5EF4-FFF2-40B4-BE49-F238E27FC236}">
                <a16:creationId xmlns:a16="http://schemas.microsoft.com/office/drawing/2014/main" id="{B3D6D710-3774-7624-A9AD-82911A5B2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5033F87-BF54-5344-D2CB-F90631F2D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769" y="206743"/>
            <a:ext cx="9413040" cy="22313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FA87B7-3841-D514-5D00-00ED472AC946}"/>
              </a:ext>
            </a:extLst>
          </p:cNvPr>
          <p:cNvSpPr txBox="1"/>
          <p:nvPr/>
        </p:nvSpPr>
        <p:spPr>
          <a:xfrm>
            <a:off x="3173834" y="2810321"/>
            <a:ext cx="61897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i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Tulane University School of Medicine</a:t>
            </a:r>
          </a:p>
          <a:p>
            <a:pPr algn="ctr"/>
            <a:r>
              <a:rPr lang="en-US" sz="2800" i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Department of Radiology</a:t>
            </a:r>
            <a:endParaRPr lang="en-US" sz="2800" i="1" dirty="0">
              <a:solidFill>
                <a:schemeClr val="accent4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E2A8B7-8541-6DC7-94FC-B7FAAD3C8419}"/>
              </a:ext>
            </a:extLst>
          </p:cNvPr>
          <p:cNvSpPr txBox="1"/>
          <p:nvPr/>
        </p:nvSpPr>
        <p:spPr>
          <a:xfrm>
            <a:off x="1986249" y="4893075"/>
            <a:ext cx="91280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dirty="0">
                <a:solidFill>
                  <a:schemeClr val="bg2"/>
                </a:solidFill>
              </a:rPr>
              <a:t>Jeremy Nguyen, MD, FACR; Cynthia Hanemann, MD, FACR; Haley Gould, MD; </a:t>
            </a:r>
          </a:p>
          <a:p>
            <a:pPr algn="ctr"/>
            <a:r>
              <a:rPr lang="en-US" sz="2000" i="1" dirty="0">
                <a:solidFill>
                  <a:schemeClr val="bg2"/>
                </a:solidFill>
              </a:rPr>
              <a:t>Gautam Dua, MD; Janis Park, MS; Brandon Nguyen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C3ACCE-6AEE-9A95-FBAE-682CDAEA7522}"/>
              </a:ext>
            </a:extLst>
          </p:cNvPr>
          <p:cNvSpPr txBox="1"/>
          <p:nvPr/>
        </p:nvSpPr>
        <p:spPr>
          <a:xfrm>
            <a:off x="3073397" y="5600961"/>
            <a:ext cx="61897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cs typeface="Arial" pitchFamily="34" charset="0"/>
              </a:rPr>
              <a:t>American Roentgen Ray Society (ARRS) Annual Meeting</a:t>
            </a:r>
          </a:p>
          <a:p>
            <a:pPr algn="ctr"/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  <a:cs typeface="Arial" pitchFamily="34" charset="0"/>
              </a:rPr>
              <a:t>April 12</a:t>
            </a:r>
            <a:r>
              <a:rPr lang="en-US" sz="2000" baseline="30000" dirty="0">
                <a:solidFill>
                  <a:schemeClr val="accent4">
                    <a:lumMod val="40000"/>
                    <a:lumOff val="60000"/>
                  </a:schemeClr>
                </a:solidFill>
                <a:cs typeface="Arial" pitchFamily="34" charset="0"/>
              </a:rPr>
              <a:t>th</a:t>
            </a:r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  <a:cs typeface="Arial" pitchFamily="34" charset="0"/>
              </a:rPr>
              <a:t> – April 15</a:t>
            </a:r>
            <a:r>
              <a:rPr lang="en-US" sz="2000" baseline="30000" dirty="0">
                <a:solidFill>
                  <a:schemeClr val="accent4">
                    <a:lumMod val="40000"/>
                    <a:lumOff val="60000"/>
                  </a:schemeClr>
                </a:solidFill>
                <a:cs typeface="Arial" pitchFamily="34" charset="0"/>
              </a:rPr>
              <a:t>th</a:t>
            </a:r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  <a:cs typeface="Arial" pitchFamily="34" charset="0"/>
              </a:rPr>
              <a:t> , 2026</a:t>
            </a:r>
          </a:p>
          <a:p>
            <a:pPr algn="ctr"/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  <a:cs typeface="Arial" pitchFamily="34" charset="0"/>
              </a:rPr>
              <a:t>Pittsburgh, Pennsylvania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FA2525-2007-A86A-715A-CFDA9B25FB34}"/>
              </a:ext>
            </a:extLst>
          </p:cNvPr>
          <p:cNvSpPr txBox="1"/>
          <p:nvPr/>
        </p:nvSpPr>
        <p:spPr>
          <a:xfrm>
            <a:off x="277074" y="394297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ED1032</a:t>
            </a:r>
          </a:p>
        </p:txBody>
      </p:sp>
    </p:spTree>
    <p:extLst>
      <p:ext uri="{BB962C8B-B14F-4D97-AF65-F5344CB8AC3E}">
        <p14:creationId xmlns:p14="http://schemas.microsoft.com/office/powerpoint/2010/main" val="570038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B4352C3-221B-C7F6-6DAD-7AD2AC6DFB11}"/>
              </a:ext>
            </a:extLst>
          </p:cNvPr>
          <p:cNvSpPr txBox="1">
            <a:spLocks/>
          </p:cNvSpPr>
          <p:nvPr/>
        </p:nvSpPr>
        <p:spPr>
          <a:xfrm>
            <a:off x="2460958" y="968769"/>
            <a:ext cx="8605124" cy="4322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pic>
        <p:nvPicPr>
          <p:cNvPr id="3" name="Picture 2" descr="http://nairahomebiz.com/wp-content/uploads/2014/03/3-SEO-hABIT-fOCUS.png">
            <a:extLst>
              <a:ext uri="{FF2B5EF4-FFF2-40B4-BE49-F238E27FC236}">
                <a16:creationId xmlns:a16="http://schemas.microsoft.com/office/drawing/2014/main" id="{088B3AA6-E44E-7C9F-63E7-B18566535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583" y="1182698"/>
            <a:ext cx="1947128" cy="1947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185705C-3934-887E-36EE-1ED81ED05C80}"/>
              </a:ext>
            </a:extLst>
          </p:cNvPr>
          <p:cNvSpPr txBox="1">
            <a:spLocks/>
          </p:cNvSpPr>
          <p:nvPr/>
        </p:nvSpPr>
        <p:spPr>
          <a:xfrm>
            <a:off x="438583" y="321322"/>
            <a:ext cx="3169829" cy="8613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A2D4BA-3A16-2031-260E-107C4ACE7A1B}"/>
              </a:ext>
            </a:extLst>
          </p:cNvPr>
          <p:cNvSpPr txBox="1"/>
          <p:nvPr/>
        </p:nvSpPr>
        <p:spPr>
          <a:xfrm>
            <a:off x="1440891" y="5938329"/>
            <a:ext cx="10639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maximize learning, please run the presentation as a slide show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1196B7-27AE-0C21-0086-7F484E1D847F}"/>
              </a:ext>
            </a:extLst>
          </p:cNvPr>
          <p:cNvSpPr txBox="1"/>
          <p:nvPr/>
        </p:nvSpPr>
        <p:spPr>
          <a:xfrm>
            <a:off x="2485008" y="968769"/>
            <a:ext cx="8581074" cy="4737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AdvTTae86113c"/>
                <a:cs typeface="+mn-cs"/>
              </a:rPr>
              <a:t>To describe the general principle artificial intelligence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AdvTTae86113c"/>
                <a:cs typeface="+mn-cs"/>
              </a:rPr>
              <a:t>To discuss the concept of machine learning and deep learning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AdvTTae86113c"/>
                <a:cs typeface="+mn-cs"/>
              </a:rPr>
              <a:t>To explain the architecture of a neural network and its elements, including the “artificial neurons”, and network layers.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AdvTTae86113c"/>
                <a:cs typeface="+mn-cs"/>
              </a:rPr>
              <a:t>To describe the core concepts of Generative AI with the emphasis on the model's ability to create new data (e.g., text, images, music) by learning from existing datasets.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AdvTTae86113c"/>
                <a:cs typeface="+mn-cs"/>
              </a:rPr>
              <a:t>To describe the general architecture and operations of Transformer networks and Attention Theory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AdvTTae86113c"/>
                <a:cs typeface="+mn-cs"/>
              </a:rPr>
              <a:t>To explain the importance and impact of Generative AI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AdvTTae86113c"/>
                <a:cs typeface="+mn-cs"/>
              </a:rPr>
              <a:t>To discuss some practical application of Generative AI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0091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F4053A-1BF0-21F1-D0FC-406403A0FEB4}"/>
              </a:ext>
            </a:extLst>
          </p:cNvPr>
          <p:cNvSpPr txBox="1">
            <a:spLocks/>
          </p:cNvSpPr>
          <p:nvPr/>
        </p:nvSpPr>
        <p:spPr>
          <a:xfrm>
            <a:off x="848940" y="1737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 Light" panose="020F0302020204030204"/>
                <a:ea typeface="+mj-ea"/>
                <a:cs typeface="Arial" pitchFamily="34" charset="0"/>
              </a:rPr>
              <a:t>Disclosures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8451197-126E-54B8-F22C-498436062DCD}"/>
              </a:ext>
            </a:extLst>
          </p:cNvPr>
          <p:cNvSpPr txBox="1">
            <a:spLocks/>
          </p:cNvSpPr>
          <p:nvPr/>
        </p:nvSpPr>
        <p:spPr>
          <a:xfrm>
            <a:off x="612958" y="1062430"/>
            <a:ext cx="10525247" cy="154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We</a:t>
            </a:r>
            <a:r>
              <a:rPr lang="en-US" dirty="0">
                <a:solidFill>
                  <a:prstClr val="white">
                    <a:lumMod val="95000"/>
                  </a:prstClr>
                </a:solidFill>
                <a:latin typeface="Calibri" panose="020F0502020204030204"/>
                <a:cs typeface="Arial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do not have any financial interest or financial relationship with a commercial organization that may  have an interest in the content of the educational activity.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Arial" pitchFamily="34" charset="0"/>
            </a:endParaRPr>
          </a:p>
        </p:txBody>
      </p:sp>
      <p:pic>
        <p:nvPicPr>
          <p:cNvPr id="7" name="Picture 2" descr="File:Superdome Tulane.jpg">
            <a:hlinkClick r:id="rId3"/>
            <a:extLst>
              <a:ext uri="{FF2B5EF4-FFF2-40B4-BE49-F238E27FC236}">
                <a16:creationId xmlns:a16="http://schemas.microsoft.com/office/drawing/2014/main" id="{A0317380-5F60-9D73-4C4F-1422E434D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62651" y="2486027"/>
            <a:ext cx="4225859" cy="27795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48111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loud 4">
            <a:extLst>
              <a:ext uri="{FF2B5EF4-FFF2-40B4-BE49-F238E27FC236}">
                <a16:creationId xmlns:a16="http://schemas.microsoft.com/office/drawing/2014/main" id="{951BA2EF-2F60-E17C-FC29-EDAA047D74EB}"/>
              </a:ext>
            </a:extLst>
          </p:cNvPr>
          <p:cNvSpPr/>
          <p:nvPr/>
        </p:nvSpPr>
        <p:spPr>
          <a:xfrm>
            <a:off x="2781936" y="2244693"/>
            <a:ext cx="8908619" cy="4068769"/>
          </a:xfrm>
          <a:prstGeom prst="cloud">
            <a:avLst/>
          </a:prstGeom>
          <a:solidFill>
            <a:schemeClr val="accent4">
              <a:lumMod val="20000"/>
              <a:lumOff val="80000"/>
            </a:schemeClr>
          </a:solidFill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Very simple!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rtificial Intelligence (AI) is a branch of computer science that is concerned with building computer systems capable of performing tasks that typically require human intelligence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Basically, we try to build computer systems that can </a:t>
            </a:r>
            <a:r>
              <a:rPr kumimoji="0" lang="en-US" sz="2400" b="0" i="1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rPr>
              <a:t>simulate human intelligence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4D8405D3-522F-E555-D074-257ADE829453}"/>
              </a:ext>
            </a:extLst>
          </p:cNvPr>
          <p:cNvSpPr/>
          <p:nvPr/>
        </p:nvSpPr>
        <p:spPr>
          <a:xfrm>
            <a:off x="1854196" y="544538"/>
            <a:ext cx="3647199" cy="1119276"/>
          </a:xfrm>
          <a:prstGeom prst="cloud">
            <a:avLst/>
          </a:prstGeom>
          <a:solidFill>
            <a:srgbClr val="CCECFF"/>
          </a:solidFill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is Artificial Intelligence (AI)?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F11723-7B04-46DD-2D4D-F9E918B925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366" y="4020738"/>
            <a:ext cx="1419764" cy="16953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37E006-6F81-96AA-3B1E-D3BACCB61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95" y="642754"/>
            <a:ext cx="770798" cy="167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09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F11723-7B04-46DD-2D4D-F9E918B925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85" y="4299725"/>
            <a:ext cx="1035720" cy="12367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37E006-6F81-96AA-3B1E-D3BACCB61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67" y="268468"/>
            <a:ext cx="609238" cy="1321085"/>
          </a:xfrm>
          <a:prstGeom prst="rect">
            <a:avLst/>
          </a:prstGeom>
        </p:spPr>
      </p:pic>
      <p:sp>
        <p:nvSpPr>
          <p:cNvPr id="2" name="Cloud 1">
            <a:extLst>
              <a:ext uri="{FF2B5EF4-FFF2-40B4-BE49-F238E27FC236}">
                <a16:creationId xmlns:a16="http://schemas.microsoft.com/office/drawing/2014/main" id="{84698863-99EB-50CD-1D17-03C511842B00}"/>
              </a:ext>
            </a:extLst>
          </p:cNvPr>
          <p:cNvSpPr/>
          <p:nvPr/>
        </p:nvSpPr>
        <p:spPr>
          <a:xfrm>
            <a:off x="1574765" y="327489"/>
            <a:ext cx="6115177" cy="1166572"/>
          </a:xfrm>
          <a:prstGeom prst="cloud">
            <a:avLst/>
          </a:prstGeom>
          <a:solidFill>
            <a:srgbClr val="CCECFF"/>
          </a:solidFill>
          <a:ln w="412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are the major capabilities of artificial intelligence?</a:t>
            </a:r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C52A248C-7B09-F22E-0F8C-D73CC642DE8A}"/>
              </a:ext>
            </a:extLst>
          </p:cNvPr>
          <p:cNvSpPr/>
          <p:nvPr/>
        </p:nvSpPr>
        <p:spPr>
          <a:xfrm>
            <a:off x="1574765" y="1866306"/>
            <a:ext cx="10118471" cy="4723226"/>
          </a:xfrm>
          <a:prstGeom prst="cloud">
            <a:avLst/>
          </a:prstGeom>
          <a:solidFill>
            <a:srgbClr val="FFC000">
              <a:lumMod val="20000"/>
              <a:lumOff val="80000"/>
            </a:srgbClr>
          </a:solidFill>
          <a:ln w="412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 major capabilities of artificial intelligence include: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Reasoning and problem solving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Knowledge representation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Planning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Machine Learning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Natural language processing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5006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F11723-7B04-46DD-2D4D-F9E918B925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07" y="4299725"/>
            <a:ext cx="1035720" cy="12367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37E006-6F81-96AA-3B1E-D3BACCB61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67" y="268468"/>
            <a:ext cx="731756" cy="1586755"/>
          </a:xfrm>
          <a:prstGeom prst="rect">
            <a:avLst/>
          </a:prstGeom>
        </p:spPr>
      </p:pic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2167C13B-64BA-C3C1-35D7-62064D59C08D}"/>
              </a:ext>
            </a:extLst>
          </p:cNvPr>
          <p:cNvSpPr/>
          <p:nvPr/>
        </p:nvSpPr>
        <p:spPr>
          <a:xfrm>
            <a:off x="1658655" y="2104006"/>
            <a:ext cx="9865130" cy="4114800"/>
          </a:xfrm>
          <a:prstGeom prst="roundRect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MACHINE LEARNING is a </a:t>
            </a:r>
            <a:r>
              <a:rPr kumimoji="0" lang="en-US" sz="2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SUBSET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artificial intelligence  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MACHINE LEARNING is built upon an ALGORITHM that uses computational methods to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“learn” information directly from data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without relying on a predetermined equation as a model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MACHINE LEARNING algorithms adaptively improve their performance as the amount of data available for learning increases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187E825D-59F4-BAD7-E230-8E31CD850397}"/>
              </a:ext>
            </a:extLst>
          </p:cNvPr>
          <p:cNvSpPr/>
          <p:nvPr/>
        </p:nvSpPr>
        <p:spPr>
          <a:xfrm>
            <a:off x="1535723" y="255582"/>
            <a:ext cx="4827960" cy="1447520"/>
          </a:xfrm>
          <a:prstGeom prst="cloud">
            <a:avLst/>
          </a:prstGeom>
          <a:solidFill>
            <a:srgbClr val="CCECFF"/>
          </a:solidFill>
          <a:ln w="412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is machine learning?</a:t>
            </a:r>
          </a:p>
        </p:txBody>
      </p:sp>
    </p:spTree>
    <p:extLst>
      <p:ext uri="{BB962C8B-B14F-4D97-AF65-F5344CB8AC3E}">
        <p14:creationId xmlns:p14="http://schemas.microsoft.com/office/powerpoint/2010/main" val="289601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F11723-7B04-46DD-2D4D-F9E918B925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15" y="4179277"/>
            <a:ext cx="1133892" cy="13540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37E006-6F81-96AA-3B1E-D3BACCB61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95" y="268468"/>
            <a:ext cx="687133" cy="1489994"/>
          </a:xfrm>
          <a:prstGeom prst="rect">
            <a:avLst/>
          </a:prstGeom>
        </p:spPr>
      </p:pic>
      <p:sp>
        <p:nvSpPr>
          <p:cNvPr id="2" name="Cloud 1">
            <a:extLst>
              <a:ext uri="{FF2B5EF4-FFF2-40B4-BE49-F238E27FC236}">
                <a16:creationId xmlns:a16="http://schemas.microsoft.com/office/drawing/2014/main" id="{326715B5-D0F4-57F2-53CD-6AD96EF25EC9}"/>
              </a:ext>
            </a:extLst>
          </p:cNvPr>
          <p:cNvSpPr/>
          <p:nvPr/>
        </p:nvSpPr>
        <p:spPr>
          <a:xfrm>
            <a:off x="1409026" y="268468"/>
            <a:ext cx="5806591" cy="768074"/>
          </a:xfrm>
          <a:prstGeom prst="cloud">
            <a:avLst/>
          </a:prstGeom>
          <a:solidFill>
            <a:srgbClr val="CCECFF"/>
          </a:solidFill>
          <a:ln w="412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What is Deep Learning?</a:t>
            </a: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B551804E-830A-FB67-E866-6613387E3022}"/>
              </a:ext>
            </a:extLst>
          </p:cNvPr>
          <p:cNvSpPr/>
          <p:nvPr/>
        </p:nvSpPr>
        <p:spPr>
          <a:xfrm>
            <a:off x="1788035" y="1166437"/>
            <a:ext cx="9772170" cy="5423095"/>
          </a:xfrm>
          <a:prstGeom prst="roundRect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Deep learning is a </a:t>
            </a:r>
            <a:r>
              <a:rPr kumimoji="0" lang="en-US" sz="2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subset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Machine Learning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Deep learning utilizes </a:t>
            </a:r>
            <a:r>
              <a:rPr kumimoji="0" lang="en-US" sz="2800" b="1" i="1" u="sng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neural networks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built with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artificial neurons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connected together to simulate a</a:t>
            </a:r>
            <a:r>
              <a:rPr kumimoji="0" lang="en-US" sz="24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neural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word "</a:t>
            </a: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deep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 in "deep learning" refers to the number of layers through which the data is processed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Deep learning algorithms propagate data through multiple layers of neurons</a:t>
            </a:r>
            <a:endParaRPr lang="en-US" sz="2400" kern="0" dirty="0">
              <a:solidFill>
                <a:prstClr val="black"/>
              </a:solidFill>
              <a:latin typeface="Calibri" panose="020F050202020403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Deep learning algorithm is capable of learning from the input data to improve its performance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86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6C1C35-E125-E8F0-74EE-616AF377C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>
            <a:extLst>
              <a:ext uri="{FF2B5EF4-FFF2-40B4-BE49-F238E27FC236}">
                <a16:creationId xmlns:a16="http://schemas.microsoft.com/office/drawing/2014/main" id="{2BE3FAAD-3129-3582-00FC-0DDED1C2FD61}"/>
              </a:ext>
            </a:extLst>
          </p:cNvPr>
          <p:cNvSpPr/>
          <p:nvPr/>
        </p:nvSpPr>
        <p:spPr>
          <a:xfrm>
            <a:off x="908610" y="0"/>
            <a:ext cx="5444064" cy="1026695"/>
          </a:xfrm>
          <a:prstGeom prst="cloud">
            <a:avLst/>
          </a:prstGeom>
          <a:solidFill>
            <a:srgbClr val="CCEC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is Generative AI?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F356F2-C009-212E-DCCB-C2457B82F5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45" y="175026"/>
            <a:ext cx="424134" cy="919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4FF9A4-7A32-D3F1-2D7B-FF220D3326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279" y="1748161"/>
            <a:ext cx="813640" cy="97159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900C2FB-A3A4-70D7-56F3-AE3DD67FE36E}"/>
              </a:ext>
            </a:extLst>
          </p:cNvPr>
          <p:cNvSpPr/>
          <p:nvPr/>
        </p:nvSpPr>
        <p:spPr>
          <a:xfrm>
            <a:off x="2026653" y="1176422"/>
            <a:ext cx="9978534" cy="2726984"/>
          </a:xfrm>
          <a:prstGeom prst="roundRect">
            <a:avLst/>
          </a:prstGeom>
          <a:solidFill>
            <a:srgbClr val="FFF2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Generative AI</a:t>
            </a:r>
            <a:r>
              <a:rPr lang="en-US" sz="2400" dirty="0">
                <a:solidFill>
                  <a:schemeClr val="tx1"/>
                </a:solidFill>
              </a:rPr>
              <a:t> is a type of artificial intelligence that can create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new content</a:t>
            </a:r>
            <a:endParaRPr lang="en-US" sz="2400" dirty="0">
              <a:solidFill>
                <a:srgbClr val="C00000"/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v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Traditional AI typically classifies or analyzes existing data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/>
                </a:solidFill>
              </a:rPr>
              <a:t>New content can be  </a:t>
            </a:r>
            <a:r>
              <a:rPr lang="en-US" sz="2400" dirty="0">
                <a:solidFill>
                  <a:srgbClr val="0066FF"/>
                </a:solidFill>
              </a:rPr>
              <a:t>text, images, audio, video</a:t>
            </a:r>
            <a:r>
              <a:rPr lang="en-US" sz="2400" dirty="0">
                <a:solidFill>
                  <a:schemeClr val="tx1"/>
                </a:solidFill>
              </a:rPr>
              <a:t>, or even programming code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The performance of a Generative AI is based on the data it has been trained on.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1C35EF9-1BE4-D285-88F3-87213C73F096}"/>
              </a:ext>
            </a:extLst>
          </p:cNvPr>
          <p:cNvSpPr/>
          <p:nvPr/>
        </p:nvSpPr>
        <p:spPr>
          <a:xfrm>
            <a:off x="2281389" y="4316361"/>
            <a:ext cx="9340340" cy="1995949"/>
          </a:xfrm>
          <a:prstGeom prst="roundRect">
            <a:avLst/>
          </a:prstGeom>
          <a:solidFill>
            <a:srgbClr val="FFF2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Key Features of Generative AI: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400" b="1" i="1" dirty="0">
                <a:solidFill>
                  <a:srgbClr val="00B050"/>
                </a:solidFill>
              </a:rPr>
              <a:t>Learns patterns</a:t>
            </a:r>
            <a:r>
              <a:rPr lang="en-US" sz="2400" i="1" dirty="0">
                <a:solidFill>
                  <a:srgbClr val="00B050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in large datasets (e.g., language, images, music)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400" b="1" i="1" dirty="0">
                <a:solidFill>
                  <a:srgbClr val="00B050"/>
                </a:solidFill>
              </a:rPr>
              <a:t>Generates original outputs</a:t>
            </a:r>
            <a:r>
              <a:rPr lang="en-US" sz="2400" i="1" dirty="0">
                <a:solidFill>
                  <a:srgbClr val="00B050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that resemble human-made content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400" b="1" i="1" dirty="0">
                <a:solidFill>
                  <a:srgbClr val="00B050"/>
                </a:solidFill>
              </a:rPr>
              <a:t>Can be multimodal </a:t>
            </a:r>
            <a:r>
              <a:rPr lang="en-US" sz="2400" b="1" dirty="0">
                <a:solidFill>
                  <a:schemeClr val="tx1"/>
                </a:solidFill>
              </a:rPr>
              <a:t>– Generative AI</a:t>
            </a:r>
            <a:r>
              <a:rPr lang="en-US" sz="2400" dirty="0">
                <a:solidFill>
                  <a:schemeClr val="tx1"/>
                </a:solidFill>
              </a:rPr>
              <a:t> works across multiple types of media (e.g., combining text and images)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63AA31-E478-80F3-4F96-F8DB31E856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828" y="4633928"/>
            <a:ext cx="813640" cy="97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833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A2CF63-F517-AE11-4FFC-D861504DB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A6090F-43A6-2E85-9C17-31B5452407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9" y="1615155"/>
            <a:ext cx="424134" cy="919700"/>
          </a:xfrm>
          <a:prstGeom prst="rect">
            <a:avLst/>
          </a:prstGeom>
        </p:spPr>
      </p:pic>
      <p:sp>
        <p:nvSpPr>
          <p:cNvPr id="3" name="Cloud 2">
            <a:extLst>
              <a:ext uri="{FF2B5EF4-FFF2-40B4-BE49-F238E27FC236}">
                <a16:creationId xmlns:a16="http://schemas.microsoft.com/office/drawing/2014/main" id="{9FF3CA08-9B7B-639F-6428-86E322202A71}"/>
              </a:ext>
            </a:extLst>
          </p:cNvPr>
          <p:cNvSpPr/>
          <p:nvPr/>
        </p:nvSpPr>
        <p:spPr>
          <a:xfrm>
            <a:off x="743284" y="406400"/>
            <a:ext cx="8729900" cy="2300224"/>
          </a:xfrm>
          <a:prstGeom prst="cloud">
            <a:avLst/>
          </a:prstGeom>
          <a:solidFill>
            <a:srgbClr val="CCECFF"/>
          </a:solidFill>
          <a:ln w="12700" cap="flat" cmpd="sng" algn="ctr">
            <a:solidFill>
              <a:srgbClr val="99FF33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Show some examples of data synthesis of generative AI system?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F1767B-13BF-C9F9-762D-A7DBAE2D483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212" y="4323145"/>
            <a:ext cx="1479872" cy="1767160"/>
          </a:xfrm>
          <a:prstGeom prst="rect">
            <a:avLst/>
          </a:prstGeom>
        </p:spPr>
      </p:pic>
      <p:sp>
        <p:nvSpPr>
          <p:cNvPr id="5" name="Cloud 4">
            <a:extLst>
              <a:ext uri="{FF2B5EF4-FFF2-40B4-BE49-F238E27FC236}">
                <a16:creationId xmlns:a16="http://schemas.microsoft.com/office/drawing/2014/main" id="{EE82B26E-258C-BBE8-C679-F50482BFB172}"/>
              </a:ext>
            </a:extLst>
          </p:cNvPr>
          <p:cNvSpPr/>
          <p:nvPr/>
        </p:nvSpPr>
        <p:spPr>
          <a:xfrm>
            <a:off x="2023084" y="3026304"/>
            <a:ext cx="9337174" cy="3287262"/>
          </a:xfrm>
          <a:prstGeom prst="cloud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Generative AI can process a varieties of input patterns and generate a variety of output formats.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 examples are shown on subsequent page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0718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082F0A-4074-69F8-B902-AF3C5A789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FF6AE34-2D75-A23B-97F8-B33EE63E4481}"/>
              </a:ext>
            </a:extLst>
          </p:cNvPr>
          <p:cNvSpPr/>
          <p:nvPr/>
        </p:nvSpPr>
        <p:spPr>
          <a:xfrm>
            <a:off x="4965224" y="546738"/>
            <a:ext cx="1414395" cy="56314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 System</a:t>
            </a:r>
          </a:p>
        </p:txBody>
      </p:sp>
      <p:pic>
        <p:nvPicPr>
          <p:cNvPr id="19" name="Graphic 18" descr="Processor outline">
            <a:extLst>
              <a:ext uri="{FF2B5EF4-FFF2-40B4-BE49-F238E27FC236}">
                <a16:creationId xmlns:a16="http://schemas.microsoft.com/office/drawing/2014/main" id="{3A9C05D3-CCC4-17C8-0DA6-CA21C2377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4931" y="3534993"/>
            <a:ext cx="1080943" cy="1080943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1EB97D49-6CCF-1618-DF62-3BCA05210116}"/>
              </a:ext>
            </a:extLst>
          </p:cNvPr>
          <p:cNvSpPr/>
          <p:nvPr/>
        </p:nvSpPr>
        <p:spPr>
          <a:xfrm>
            <a:off x="3422750" y="1055096"/>
            <a:ext cx="1393902" cy="234175"/>
          </a:xfrm>
          <a:prstGeom prst="rightArrow">
            <a:avLst/>
          </a:prstGeom>
          <a:solidFill>
            <a:srgbClr val="99FF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291F3EF-0A02-73A3-ACD6-A3D1454B3B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634" y="2328452"/>
            <a:ext cx="1414395" cy="27434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7690E50-EEE2-8D47-E83B-559054477C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634" y="3700053"/>
            <a:ext cx="1414395" cy="27434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BBBADBC-0CA3-920F-6139-6F5BF12E7D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634" y="5096849"/>
            <a:ext cx="1414395" cy="27434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5860503-37A7-1CD5-E700-A95B7B20D9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6" y="3667002"/>
            <a:ext cx="1414395" cy="2743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A70B65-878A-5AE9-3CC8-FD1BEB3CDF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713" y="4781208"/>
            <a:ext cx="1079086" cy="10790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2C7F5E-1191-1671-73AD-47AFCAF503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5788" y="848897"/>
            <a:ext cx="1079086" cy="1079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D11CEE-9DFD-05D5-1289-396051BD64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0711" y="2064830"/>
            <a:ext cx="1079086" cy="10790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2FEE85-9C51-88A0-D59B-B9C0ED981BCF}"/>
              </a:ext>
            </a:extLst>
          </p:cNvPr>
          <p:cNvSpPr txBox="1"/>
          <p:nvPr/>
        </p:nvSpPr>
        <p:spPr>
          <a:xfrm>
            <a:off x="3714644" y="751590"/>
            <a:ext cx="56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C7BCD-8E25-4D8E-6D88-4FEDB37920BA}"/>
              </a:ext>
            </a:extLst>
          </p:cNvPr>
          <p:cNvSpPr txBox="1"/>
          <p:nvPr/>
        </p:nvSpPr>
        <p:spPr>
          <a:xfrm>
            <a:off x="693156" y="987517"/>
            <a:ext cx="2734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does ARRS stand for?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EE8912-C63C-816A-6CC2-F9352CE7D8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26" y="1021553"/>
            <a:ext cx="1414395" cy="26824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6DDF2BD-A809-FD4F-0C31-691D93ED3BF0}"/>
              </a:ext>
            </a:extLst>
          </p:cNvPr>
          <p:cNvSpPr txBox="1"/>
          <p:nvPr/>
        </p:nvSpPr>
        <p:spPr>
          <a:xfrm>
            <a:off x="8037232" y="971010"/>
            <a:ext cx="3877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American Roentgen Ray Society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3EB25B-1083-45B0-E653-881FA5650B6A}"/>
              </a:ext>
            </a:extLst>
          </p:cNvPr>
          <p:cNvSpPr txBox="1"/>
          <p:nvPr/>
        </p:nvSpPr>
        <p:spPr>
          <a:xfrm>
            <a:off x="430888" y="2259865"/>
            <a:ext cx="3494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Show  ischemic stroke on DWI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94EEBB0-CD8D-73E7-B072-87475C47CF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6637" y="1860576"/>
            <a:ext cx="914400" cy="9144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1FBC07A-5CB2-9501-9454-493C82EA2C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1046" y="2307359"/>
            <a:ext cx="1414395" cy="27434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04D6EE9-7685-5AF4-A750-50534E2B0D51}"/>
              </a:ext>
            </a:extLst>
          </p:cNvPr>
          <p:cNvSpPr txBox="1"/>
          <p:nvPr/>
        </p:nvSpPr>
        <p:spPr>
          <a:xfrm>
            <a:off x="3753217" y="1999600"/>
            <a:ext cx="667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2FA5B0-913D-60BB-C64C-C82FC2CD7351}"/>
              </a:ext>
            </a:extLst>
          </p:cNvPr>
          <p:cNvSpPr txBox="1"/>
          <p:nvPr/>
        </p:nvSpPr>
        <p:spPr>
          <a:xfrm>
            <a:off x="6924220" y="1999601"/>
            <a:ext cx="818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Image</a:t>
            </a:r>
          </a:p>
        </p:txBody>
      </p:sp>
      <p:pic>
        <p:nvPicPr>
          <p:cNvPr id="35" name="Graphic 34" descr="Stuffed Toy outline">
            <a:extLst>
              <a:ext uri="{FF2B5EF4-FFF2-40B4-BE49-F238E27FC236}">
                <a16:creationId xmlns:a16="http://schemas.microsoft.com/office/drawing/2014/main" id="{DA8335E9-E060-F664-9D5B-539AE0896C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49056" y="3300849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DF7B4D7-F863-AA32-5AAB-D2FB43DA19EA}"/>
              </a:ext>
            </a:extLst>
          </p:cNvPr>
          <p:cNvSpPr txBox="1"/>
          <p:nvPr/>
        </p:nvSpPr>
        <p:spPr>
          <a:xfrm>
            <a:off x="626622" y="3652559"/>
            <a:ext cx="31265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you draw  teddy bear?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59804F-28E0-397C-13AC-BEC8DF06A612}"/>
              </a:ext>
            </a:extLst>
          </p:cNvPr>
          <p:cNvSpPr txBox="1"/>
          <p:nvPr/>
        </p:nvSpPr>
        <p:spPr>
          <a:xfrm>
            <a:off x="3753217" y="3297670"/>
            <a:ext cx="667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ED4334-2F7B-8234-FAFC-FFEC3F1B1136}"/>
              </a:ext>
            </a:extLst>
          </p:cNvPr>
          <p:cNvSpPr txBox="1"/>
          <p:nvPr/>
        </p:nvSpPr>
        <p:spPr>
          <a:xfrm>
            <a:off x="6798555" y="3362452"/>
            <a:ext cx="1091992" cy="378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Drawing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359BE6-3ED1-F070-6C89-DBFC50AC699F}"/>
              </a:ext>
            </a:extLst>
          </p:cNvPr>
          <p:cNvSpPr txBox="1"/>
          <p:nvPr/>
        </p:nvSpPr>
        <p:spPr>
          <a:xfrm>
            <a:off x="6796319" y="621154"/>
            <a:ext cx="795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C1AEB1B-25A3-077F-5E29-89A311CF0E2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576" y="4440244"/>
            <a:ext cx="1159589" cy="131321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0F78DE83-AE75-3A28-8BA0-CEDC909C0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262" y="5096849"/>
            <a:ext cx="1414395" cy="27434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05B52CAF-8CC1-AB70-7962-C046B9B9E74F}"/>
              </a:ext>
            </a:extLst>
          </p:cNvPr>
          <p:cNvSpPr txBox="1"/>
          <p:nvPr/>
        </p:nvSpPr>
        <p:spPr>
          <a:xfrm>
            <a:off x="8032406" y="5013562"/>
            <a:ext cx="1981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is a chest x-ray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B27FEF3-8318-B2AB-8E87-2D7E8E360886}"/>
              </a:ext>
            </a:extLst>
          </p:cNvPr>
          <p:cNvSpPr txBox="1"/>
          <p:nvPr/>
        </p:nvSpPr>
        <p:spPr>
          <a:xfrm>
            <a:off x="6980182" y="4751965"/>
            <a:ext cx="878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8805C35-A63E-C2C1-5D5C-03EC995E2E75}"/>
              </a:ext>
            </a:extLst>
          </p:cNvPr>
          <p:cNvSpPr txBox="1"/>
          <p:nvPr/>
        </p:nvSpPr>
        <p:spPr>
          <a:xfrm>
            <a:off x="3649291" y="4690364"/>
            <a:ext cx="837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Image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79670349-7655-0C10-41AE-8187782B7ADB}"/>
              </a:ext>
            </a:extLst>
          </p:cNvPr>
          <p:cNvSpPr/>
          <p:nvPr/>
        </p:nvSpPr>
        <p:spPr>
          <a:xfrm rot="16200000">
            <a:off x="2721115" y="4257278"/>
            <a:ext cx="423625" cy="3683048"/>
          </a:xfrm>
          <a:prstGeom prst="leftBrace">
            <a:avLst/>
          </a:prstGeom>
          <a:ln w="190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20A2C4-6E53-3B39-2A31-76D5FFDBA44B}"/>
              </a:ext>
            </a:extLst>
          </p:cNvPr>
          <p:cNvSpPr txBox="1"/>
          <p:nvPr/>
        </p:nvSpPr>
        <p:spPr>
          <a:xfrm>
            <a:off x="2547370" y="6310615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4949F75-2790-CD79-030F-8BC98DF155EA}"/>
              </a:ext>
            </a:extLst>
          </p:cNvPr>
          <p:cNvSpPr/>
          <p:nvPr/>
        </p:nvSpPr>
        <p:spPr>
          <a:xfrm rot="16200000">
            <a:off x="8191017" y="4183510"/>
            <a:ext cx="423625" cy="3683048"/>
          </a:xfrm>
          <a:prstGeom prst="leftBrace">
            <a:avLst/>
          </a:prstGeom>
          <a:ln w="190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A74DAB-E73E-BF45-57F1-3F382AA9C22A}"/>
              </a:ext>
            </a:extLst>
          </p:cNvPr>
          <p:cNvSpPr txBox="1"/>
          <p:nvPr/>
        </p:nvSpPr>
        <p:spPr>
          <a:xfrm>
            <a:off x="8055363" y="6271346"/>
            <a:ext cx="920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43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6" grpId="0"/>
      <p:bldP spid="7" grpId="0"/>
      <p:bldP spid="16" grpId="0"/>
      <p:bldP spid="27" grpId="0"/>
      <p:bldP spid="31" grpId="0"/>
      <p:bldP spid="33" grpId="0"/>
      <p:bldP spid="37" grpId="0"/>
      <p:bldP spid="40" grpId="0"/>
      <p:bldP spid="42" grpId="0"/>
      <p:bldP spid="44" grpId="0"/>
      <p:bldP spid="47" grpId="0"/>
      <p:bldP spid="49" grpId="0"/>
      <p:bldP spid="5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AFE4BF-84C3-B896-2A97-C755F333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C843EB-1777-9DF5-62F8-DE9518A553D1}"/>
              </a:ext>
            </a:extLst>
          </p:cNvPr>
          <p:cNvSpPr txBox="1">
            <a:spLocks/>
          </p:cNvSpPr>
          <p:nvPr/>
        </p:nvSpPr>
        <p:spPr>
          <a:xfrm>
            <a:off x="439183" y="297766"/>
            <a:ext cx="4877556" cy="2695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Machine Learning is a subset of Artificial Intelligence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Deep learning is a subset of machine learning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Generative AI is a subset of deep learning </a:t>
            </a:r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4552AAA1-3F0C-A9BD-19AB-3E70D63614D1}"/>
              </a:ext>
            </a:extLst>
          </p:cNvPr>
          <p:cNvSpPr/>
          <p:nvPr/>
        </p:nvSpPr>
        <p:spPr>
          <a:xfrm>
            <a:off x="922769" y="3104453"/>
            <a:ext cx="3996572" cy="2025858"/>
          </a:xfrm>
          <a:prstGeom prst="clou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Generative AI models are built on neural networks and rely on deep learning techniques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2D25F6-E9B6-19D0-F1F7-67EDB0508F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71" y="4504728"/>
            <a:ext cx="920185" cy="1098821"/>
          </a:xfrm>
          <a:prstGeom prst="rect">
            <a:avLst/>
          </a:prstGeom>
        </p:spPr>
      </p:pic>
      <p:sp>
        <p:nvSpPr>
          <p:cNvPr id="9" name="Bevel 5">
            <a:extLst>
              <a:ext uri="{FF2B5EF4-FFF2-40B4-BE49-F238E27FC236}">
                <a16:creationId xmlns:a16="http://schemas.microsoft.com/office/drawing/2014/main" id="{B3FCE1C1-28A7-F5A9-DF92-3DD847674BED}"/>
              </a:ext>
            </a:extLst>
          </p:cNvPr>
          <p:cNvSpPr/>
          <p:nvPr/>
        </p:nvSpPr>
        <p:spPr>
          <a:xfrm>
            <a:off x="5316740" y="499277"/>
            <a:ext cx="6469907" cy="5669048"/>
          </a:xfrm>
          <a:prstGeom prst="bevel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Bevel 6">
            <a:extLst>
              <a:ext uri="{FF2B5EF4-FFF2-40B4-BE49-F238E27FC236}">
                <a16:creationId xmlns:a16="http://schemas.microsoft.com/office/drawing/2014/main" id="{6DBD1B59-85CB-DA54-3237-5E806C8A337B}"/>
              </a:ext>
            </a:extLst>
          </p:cNvPr>
          <p:cNvSpPr/>
          <p:nvPr/>
        </p:nvSpPr>
        <p:spPr>
          <a:xfrm>
            <a:off x="6310051" y="1645532"/>
            <a:ext cx="4585257" cy="3530902"/>
          </a:xfrm>
          <a:prstGeom prst="bevel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Bevel 7">
            <a:extLst>
              <a:ext uri="{FF2B5EF4-FFF2-40B4-BE49-F238E27FC236}">
                <a16:creationId xmlns:a16="http://schemas.microsoft.com/office/drawing/2014/main" id="{C9CED5BF-B8EA-0C61-0068-AA18BD3A0675}"/>
              </a:ext>
            </a:extLst>
          </p:cNvPr>
          <p:cNvSpPr/>
          <p:nvPr/>
        </p:nvSpPr>
        <p:spPr>
          <a:xfrm>
            <a:off x="6941607" y="2662042"/>
            <a:ext cx="3395762" cy="1773513"/>
          </a:xfrm>
          <a:prstGeom prst="bevel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D498E8-FA34-CB1F-9867-78F78C43DBE6}"/>
              </a:ext>
            </a:extLst>
          </p:cNvPr>
          <p:cNvSpPr txBox="1"/>
          <p:nvPr/>
        </p:nvSpPr>
        <p:spPr>
          <a:xfrm>
            <a:off x="7417969" y="1261384"/>
            <a:ext cx="2267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Artificial Intelligence</a:t>
            </a:r>
          </a:p>
        </p:txBody>
      </p:sp>
      <p:sp>
        <p:nvSpPr>
          <p:cNvPr id="13" name="Bevel 7">
            <a:extLst>
              <a:ext uri="{FF2B5EF4-FFF2-40B4-BE49-F238E27FC236}">
                <a16:creationId xmlns:a16="http://schemas.microsoft.com/office/drawing/2014/main" id="{A68B31AB-3D55-76A3-0B2A-7F6D2CDB8F33}"/>
              </a:ext>
            </a:extLst>
          </p:cNvPr>
          <p:cNvSpPr/>
          <p:nvPr/>
        </p:nvSpPr>
        <p:spPr>
          <a:xfrm>
            <a:off x="7736405" y="3289119"/>
            <a:ext cx="1732547" cy="794084"/>
          </a:xfrm>
          <a:prstGeom prst="bevel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Generative AI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F24AB3-4AB1-F973-C7C9-B7CE579B679F}"/>
              </a:ext>
            </a:extLst>
          </p:cNvPr>
          <p:cNvSpPr txBox="1"/>
          <p:nvPr/>
        </p:nvSpPr>
        <p:spPr>
          <a:xfrm>
            <a:off x="7410738" y="2053113"/>
            <a:ext cx="2034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Machine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8262B9-7C8F-0117-3E91-26F1263918E1}"/>
              </a:ext>
            </a:extLst>
          </p:cNvPr>
          <p:cNvSpPr txBox="1"/>
          <p:nvPr/>
        </p:nvSpPr>
        <p:spPr>
          <a:xfrm>
            <a:off x="7534617" y="2919787"/>
            <a:ext cx="2034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471270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F11723-7B04-46DD-2D4D-F9E918B925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16" y="392070"/>
            <a:ext cx="1005838" cy="1201101"/>
          </a:xfrm>
          <a:prstGeom prst="rect">
            <a:avLst/>
          </a:prstGeom>
        </p:spPr>
      </p:pic>
      <p:sp>
        <p:nvSpPr>
          <p:cNvPr id="2" name="Cloud 1">
            <a:extLst>
              <a:ext uri="{FF2B5EF4-FFF2-40B4-BE49-F238E27FC236}">
                <a16:creationId xmlns:a16="http://schemas.microsoft.com/office/drawing/2014/main" id="{2B425451-BAC6-4D53-BFC2-938ECB3B6C2E}"/>
              </a:ext>
            </a:extLst>
          </p:cNvPr>
          <p:cNvSpPr/>
          <p:nvPr/>
        </p:nvSpPr>
        <p:spPr>
          <a:xfrm>
            <a:off x="1946569" y="154612"/>
            <a:ext cx="8823713" cy="2361916"/>
          </a:xfrm>
          <a:prstGeom prst="cloud">
            <a:avLst/>
          </a:prstGeom>
          <a:solidFill>
            <a:srgbClr val="FFC000">
              <a:lumMod val="20000"/>
              <a:lumOff val="80000"/>
            </a:srgbClr>
          </a:solidFill>
          <a:ln w="412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will show how a deep learning </a:t>
            </a: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neural network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constructed from its basic element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basic element of the network is an artificial neuron, which is modeled after a biological neuron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F76B3E-ACE3-BC2E-3B61-3716B6E578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716" y="2693004"/>
            <a:ext cx="7896190" cy="28107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453F44-0EEC-D303-2A28-D6E1824CAA1E}"/>
              </a:ext>
            </a:extLst>
          </p:cNvPr>
          <p:cNvSpPr txBox="1"/>
          <p:nvPr/>
        </p:nvSpPr>
        <p:spPr>
          <a:xfrm>
            <a:off x="1701491" y="5680263"/>
            <a:ext cx="95626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</a:t>
            </a:r>
            <a:r>
              <a:rPr kumimoji="0" lang="en-US" sz="2400" b="0" i="0" u="sng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artificial neuron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an elementary unit of an </a:t>
            </a:r>
            <a:r>
              <a:rPr kumimoji="0" lang="en-US" sz="2400" b="0" i="0" u="sng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artificial neural network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is a mathematical function that simulates the behavior of a biological neuron in the brain </a:t>
            </a:r>
          </a:p>
        </p:txBody>
      </p:sp>
    </p:spTree>
    <p:extLst>
      <p:ext uri="{BB962C8B-B14F-4D97-AF65-F5344CB8AC3E}">
        <p14:creationId xmlns:p14="http://schemas.microsoft.com/office/powerpoint/2010/main" val="190198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F11723-7B04-46DD-2D4D-F9E918B925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391" y="202677"/>
            <a:ext cx="1083347" cy="1293657"/>
          </a:xfrm>
          <a:prstGeom prst="rect">
            <a:avLst/>
          </a:prstGeom>
        </p:spPr>
      </p:pic>
      <p:sp>
        <p:nvSpPr>
          <p:cNvPr id="2" name="Rounded Rectangle 5">
            <a:extLst>
              <a:ext uri="{FF2B5EF4-FFF2-40B4-BE49-F238E27FC236}">
                <a16:creationId xmlns:a16="http://schemas.microsoft.com/office/drawing/2014/main" id="{EF9C0D01-E1D1-CDDC-5F0A-7912F912D163}"/>
              </a:ext>
            </a:extLst>
          </p:cNvPr>
          <p:cNvSpPr/>
          <p:nvPr/>
        </p:nvSpPr>
        <p:spPr>
          <a:xfrm>
            <a:off x="2282417" y="202677"/>
            <a:ext cx="8038845" cy="1522686"/>
          </a:xfrm>
          <a:prstGeom prst="roundRect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Artificial Neuron = The basic unit of computation in a neural network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Often called a 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or 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neuron can receive multiple inputs from other neurons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neuron combines the inputs and generates an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0ED532-DF05-3875-4EA0-23DB2E13BDF7}"/>
                  </a:ext>
                </a:extLst>
              </p:cNvPr>
              <p:cNvSpPr txBox="1"/>
              <p:nvPr/>
            </p:nvSpPr>
            <p:spPr>
              <a:xfrm>
                <a:off x="6301839" y="4537254"/>
                <a:ext cx="30996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𝜔</m:t>
                      </m:r>
                      <m:r>
                        <a:rPr kumimoji="0" 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2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0ED532-DF05-3875-4EA0-23DB2E13B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839" y="4537254"/>
                <a:ext cx="309967" cy="276999"/>
              </a:xfrm>
              <a:prstGeom prst="rect">
                <a:avLst/>
              </a:prstGeom>
              <a:blipFill>
                <a:blip r:embed="rId4"/>
                <a:stretch>
                  <a:fillRect l="-17647" r="-23529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0CB2C7-6BD7-29F0-AF7E-1B2B97F3175E}"/>
                  </a:ext>
                </a:extLst>
              </p:cNvPr>
              <p:cNvSpPr txBox="1"/>
              <p:nvPr/>
            </p:nvSpPr>
            <p:spPr>
              <a:xfrm>
                <a:off x="6301838" y="5163431"/>
                <a:ext cx="30996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𝜔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31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0CB2C7-6BD7-29F0-AF7E-1B2B97F31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838" y="5163431"/>
                <a:ext cx="309967" cy="553998"/>
              </a:xfrm>
              <a:prstGeom prst="rect">
                <a:avLst/>
              </a:prstGeom>
              <a:blipFill>
                <a:blip r:embed="rId5"/>
                <a:stretch>
                  <a:fillRect l="-47059" t="-14286" r="-37255" b="-25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 descr="A diagram of a circle with arrows and a yellow circle&#10;&#10;AI-generated content may be incorrect.">
            <a:extLst>
              <a:ext uri="{FF2B5EF4-FFF2-40B4-BE49-F238E27FC236}">
                <a16:creationId xmlns:a16="http://schemas.microsoft.com/office/drawing/2014/main" id="{062BE438-1D4E-892A-E31F-7C161C4F90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477" y="1988670"/>
            <a:ext cx="6083708" cy="2705568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5B38E3D-B455-F33F-F118-8C70E0586645}"/>
              </a:ext>
            </a:extLst>
          </p:cNvPr>
          <p:cNvSpPr/>
          <p:nvPr/>
        </p:nvSpPr>
        <p:spPr>
          <a:xfrm>
            <a:off x="2328456" y="4889531"/>
            <a:ext cx="8205750" cy="1749001"/>
          </a:xfrm>
          <a:prstGeom prst="roundRect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Each input has an  associated 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weight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 (ω), which is a parameter assigned based on its relative importance to other inputs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Bias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 is a parameter in the neural network which is used to adjust the threshold of the output along with the weighted sum of the inputs to the neuron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C43B80-B597-9A4B-DC55-C2F1DCC3BB0A}"/>
              </a:ext>
            </a:extLst>
          </p:cNvPr>
          <p:cNvSpPr txBox="1"/>
          <p:nvPr/>
        </p:nvSpPr>
        <p:spPr>
          <a:xfrm>
            <a:off x="4866968" y="2074607"/>
            <a:ext cx="962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(weight)</a:t>
            </a:r>
          </a:p>
        </p:txBody>
      </p:sp>
    </p:spTree>
    <p:extLst>
      <p:ext uri="{BB962C8B-B14F-4D97-AF65-F5344CB8AC3E}">
        <p14:creationId xmlns:p14="http://schemas.microsoft.com/office/powerpoint/2010/main" val="363739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2AF98AB-10BA-950E-493B-3FE5C9DAD68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Basic Neural Network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19F4A6-A53D-F33E-B5F6-AA38F669D801}"/>
              </a:ext>
            </a:extLst>
          </p:cNvPr>
          <p:cNvSpPr txBox="1"/>
          <p:nvPr/>
        </p:nvSpPr>
        <p:spPr>
          <a:xfrm>
            <a:off x="1716290" y="4917452"/>
            <a:ext cx="96375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A neural network combines multiple processing layers, using simple elements operating in parallel. 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The network consists of an input layer, multiple hidden layers, and an output layer.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The layers are interconnected via nodes or neurons.  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Each hidden layer uses the output of the previous layer as its input.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C1AABD-2328-6C00-2083-FE95BEB0C7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715270"/>
            <a:ext cx="671908" cy="802346"/>
          </a:xfrm>
          <a:prstGeom prst="rect">
            <a:avLst/>
          </a:prstGeom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01FA632F-AAF5-42EF-D3C5-F1E5F2EF59E7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3300" y="1408931"/>
            <a:ext cx="6226349" cy="338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283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F11723-7B04-46DD-2D4D-F9E918B925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755" y="5339358"/>
            <a:ext cx="937879" cy="1119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37E006-6F81-96AA-3B1E-D3BACCB61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61" y="209854"/>
            <a:ext cx="653631" cy="1417348"/>
          </a:xfrm>
          <a:prstGeom prst="rect">
            <a:avLst/>
          </a:prstGeom>
        </p:spPr>
      </p:pic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55FB60A2-8696-06AD-F1B7-B20EB4DBDCBB}"/>
              </a:ext>
            </a:extLst>
          </p:cNvPr>
          <p:cNvSpPr/>
          <p:nvPr/>
        </p:nvSpPr>
        <p:spPr>
          <a:xfrm>
            <a:off x="1350102" y="2719328"/>
            <a:ext cx="10299354" cy="2501896"/>
          </a:xfrm>
          <a:prstGeom prst="roundRect">
            <a:avLst/>
          </a:prstGeom>
          <a:solidFill>
            <a:srgbClr val="FFF2CC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must </a:t>
            </a: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 network before using it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untrained neural network (newly designed and never been put to use) is like an inexperienced performer – It is essentially ignorant as it must learn to achieve satisfactory performance and yield desired results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algorithms of the networks must have actual experience of the intended task through the exposure to a </a:t>
            </a:r>
            <a:r>
              <a:rPr kumimoji="0" lang="en-US" sz="20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large amount of </a:t>
            </a:r>
            <a:r>
              <a:rPr kumimoji="0" lang="en-US" sz="2000" b="1" i="1" u="sng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46F4022C-7D14-9EF4-E9C4-3781DC428C16}"/>
              </a:ext>
            </a:extLst>
          </p:cNvPr>
          <p:cNvSpPr/>
          <p:nvPr/>
        </p:nvSpPr>
        <p:spPr>
          <a:xfrm>
            <a:off x="1350102" y="252326"/>
            <a:ext cx="7775610" cy="1989094"/>
          </a:xfrm>
          <a:prstGeom prst="cloud">
            <a:avLst/>
          </a:prstGeom>
          <a:solidFill>
            <a:srgbClr val="CCECFF"/>
          </a:solidFill>
          <a:ln w="412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a neural network be utilized immediately after its construction is completed?</a:t>
            </a:r>
          </a:p>
        </p:txBody>
      </p:sp>
    </p:spTree>
    <p:extLst>
      <p:ext uri="{BB962C8B-B14F-4D97-AF65-F5344CB8AC3E}">
        <p14:creationId xmlns:p14="http://schemas.microsoft.com/office/powerpoint/2010/main" val="305075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F11723-7B04-46DD-2D4D-F9E918B925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96" y="5080534"/>
            <a:ext cx="1074989" cy="12836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37E006-6F81-96AA-3B1E-D3BACCB61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96" y="142538"/>
            <a:ext cx="483786" cy="1049054"/>
          </a:xfrm>
          <a:prstGeom prst="rect">
            <a:avLst/>
          </a:prstGeom>
        </p:spPr>
      </p:pic>
      <p:sp>
        <p:nvSpPr>
          <p:cNvPr id="2" name="Cloud 1">
            <a:extLst>
              <a:ext uri="{FF2B5EF4-FFF2-40B4-BE49-F238E27FC236}">
                <a16:creationId xmlns:a16="http://schemas.microsoft.com/office/drawing/2014/main" id="{12F3A0F9-A25F-D851-719E-C0F9697A44B8}"/>
              </a:ext>
            </a:extLst>
          </p:cNvPr>
          <p:cNvSpPr/>
          <p:nvPr/>
        </p:nvSpPr>
        <p:spPr>
          <a:xfrm>
            <a:off x="1164133" y="142538"/>
            <a:ext cx="9838163" cy="860352"/>
          </a:xfrm>
          <a:prstGeom prst="cloud">
            <a:avLst/>
          </a:prstGeom>
          <a:solidFill>
            <a:srgbClr val="CCECFF"/>
          </a:solidFill>
          <a:ln w="412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Are there different ways to train the network for learning ?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F32ADA-C53F-42EF-8765-6006DF6D685F}"/>
              </a:ext>
            </a:extLst>
          </p:cNvPr>
          <p:cNvSpPr/>
          <p:nvPr/>
        </p:nvSpPr>
        <p:spPr>
          <a:xfrm>
            <a:off x="1176918" y="1341536"/>
            <a:ext cx="9838163" cy="4174927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 are four major learning styles of an algorithm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Supervised learning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 Input data is labeled, and specific expected outputs are known. The algorithm generates reasonable predictions for the response to new data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Unsupervised learning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Input data is not labeled, and outputs are not known. The algorithm generates results based on the analysis structure of the data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Semi-supervised learning </a:t>
            </a: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data is a mixture of labeled and unlabeled datasets. The algorithm generates results based on structure of the data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Reinforcement learning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Input data is unlabeled.  The machine (algorithm) is trained to make specific decisions. The machine is exposed to an environment where it trains itself continually using trial and error through a feedback loop</a:t>
            </a:r>
          </a:p>
        </p:txBody>
      </p:sp>
    </p:spTree>
    <p:extLst>
      <p:ext uri="{BB962C8B-B14F-4D97-AF65-F5344CB8AC3E}">
        <p14:creationId xmlns:p14="http://schemas.microsoft.com/office/powerpoint/2010/main" val="350064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AE9167-E4E7-3E84-E7DC-97DEDD456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27CADF4-F3DD-407A-3278-C227992573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07" y="4460121"/>
            <a:ext cx="937879" cy="1119949"/>
          </a:xfrm>
          <a:prstGeom prst="rect">
            <a:avLst/>
          </a:prstGeom>
        </p:spPr>
      </p:pic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C1AC29DA-14A2-566C-90CF-E9D9E05B5836}"/>
              </a:ext>
            </a:extLst>
          </p:cNvPr>
          <p:cNvSpPr/>
          <p:nvPr/>
        </p:nvSpPr>
        <p:spPr>
          <a:xfrm>
            <a:off x="1113692" y="1402746"/>
            <a:ext cx="10468708" cy="2854622"/>
          </a:xfrm>
          <a:prstGeom prst="roundRect">
            <a:avLst/>
          </a:prstGeom>
          <a:solidFill>
            <a:srgbClr val="FFF2CC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training a neural network on relevant datasets, we seek to improve its performance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way we measure progress is by monitoring the </a:t>
            </a: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error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produced by the network each time it makes a prediction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Therefore, a very important goal of the network is to reduce the error of the output – This is equivalent to </a:t>
            </a: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LEARNING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improve itself</a:t>
            </a:r>
          </a:p>
        </p:txBody>
      </p:sp>
    </p:spTree>
    <p:extLst>
      <p:ext uri="{BB962C8B-B14F-4D97-AF65-F5344CB8AC3E}">
        <p14:creationId xmlns:p14="http://schemas.microsoft.com/office/powerpoint/2010/main" val="2185473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ABA1AB-04D0-091A-B688-CE6B034B5AEE}"/>
              </a:ext>
            </a:extLst>
          </p:cNvPr>
          <p:cNvSpPr txBox="1"/>
          <p:nvPr/>
        </p:nvSpPr>
        <p:spPr>
          <a:xfrm>
            <a:off x="526667" y="46585"/>
            <a:ext cx="45752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Neural Network operation</a:t>
            </a:r>
          </a:p>
        </p:txBody>
      </p:sp>
      <p:sp>
        <p:nvSpPr>
          <p:cNvPr id="5" name="Right Arrow 3">
            <a:extLst>
              <a:ext uri="{FF2B5EF4-FFF2-40B4-BE49-F238E27FC236}">
                <a16:creationId xmlns:a16="http://schemas.microsoft.com/office/drawing/2014/main" id="{391B7239-DC5C-78D1-ADE4-F271602E08A2}"/>
              </a:ext>
            </a:extLst>
          </p:cNvPr>
          <p:cNvSpPr/>
          <p:nvPr/>
        </p:nvSpPr>
        <p:spPr>
          <a:xfrm>
            <a:off x="2377691" y="1287577"/>
            <a:ext cx="787079" cy="138896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ight Arrow 10">
            <a:extLst>
              <a:ext uri="{FF2B5EF4-FFF2-40B4-BE49-F238E27FC236}">
                <a16:creationId xmlns:a16="http://schemas.microsoft.com/office/drawing/2014/main" id="{E5B40C35-0387-15D6-AB8C-DDCA069FA9DB}"/>
              </a:ext>
            </a:extLst>
          </p:cNvPr>
          <p:cNvSpPr/>
          <p:nvPr/>
        </p:nvSpPr>
        <p:spPr>
          <a:xfrm>
            <a:off x="2368323" y="2728906"/>
            <a:ext cx="787079" cy="138896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ight Arrow 11">
            <a:extLst>
              <a:ext uri="{FF2B5EF4-FFF2-40B4-BE49-F238E27FC236}">
                <a16:creationId xmlns:a16="http://schemas.microsoft.com/office/drawing/2014/main" id="{9B2164A3-819E-75A9-7426-1F79D593CFF6}"/>
              </a:ext>
            </a:extLst>
          </p:cNvPr>
          <p:cNvSpPr/>
          <p:nvPr/>
        </p:nvSpPr>
        <p:spPr>
          <a:xfrm>
            <a:off x="2345888" y="4004041"/>
            <a:ext cx="787079" cy="138896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4CC259-9519-224A-95F0-38B420DAAF5A}"/>
              </a:ext>
            </a:extLst>
          </p:cNvPr>
          <p:cNvSpPr/>
          <p:nvPr/>
        </p:nvSpPr>
        <p:spPr>
          <a:xfrm>
            <a:off x="2277816" y="978405"/>
            <a:ext cx="9492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Input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F969CA-0904-1E9C-A34E-1FAD86E65877}"/>
              </a:ext>
            </a:extLst>
          </p:cNvPr>
          <p:cNvSpPr/>
          <p:nvPr/>
        </p:nvSpPr>
        <p:spPr>
          <a:xfrm>
            <a:off x="2277817" y="2376355"/>
            <a:ext cx="9492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Input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281815-7DEB-F2C4-948E-54D867CB901C}"/>
              </a:ext>
            </a:extLst>
          </p:cNvPr>
          <p:cNvSpPr/>
          <p:nvPr/>
        </p:nvSpPr>
        <p:spPr>
          <a:xfrm>
            <a:off x="2260987" y="3634818"/>
            <a:ext cx="9492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Input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5CB4744-0EF5-DCB9-FCF4-6E5FE86B5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908" y="888042"/>
            <a:ext cx="6580942" cy="3959520"/>
          </a:xfrm>
          <a:prstGeom prst="rect">
            <a:avLst/>
          </a:prstGeom>
        </p:spPr>
      </p:pic>
      <p:sp>
        <p:nvSpPr>
          <p:cNvPr id="17" name="Right Arrow 23">
            <a:extLst>
              <a:ext uri="{FF2B5EF4-FFF2-40B4-BE49-F238E27FC236}">
                <a16:creationId xmlns:a16="http://schemas.microsoft.com/office/drawing/2014/main" id="{6A831274-C848-B49B-B5CF-5A020877C9A6}"/>
              </a:ext>
            </a:extLst>
          </p:cNvPr>
          <p:cNvSpPr/>
          <p:nvPr/>
        </p:nvSpPr>
        <p:spPr>
          <a:xfrm>
            <a:off x="9658932" y="2804865"/>
            <a:ext cx="1530963" cy="181844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131202-6210-9689-C30B-05C7EF2BDA46}"/>
              </a:ext>
            </a:extLst>
          </p:cNvPr>
          <p:cNvSpPr txBox="1"/>
          <p:nvPr/>
        </p:nvSpPr>
        <p:spPr>
          <a:xfrm>
            <a:off x="9990048" y="2480430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Output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3CF749-825F-9D4C-B87F-738B4CE8C679}"/>
              </a:ext>
            </a:extLst>
          </p:cNvPr>
          <p:cNvSpPr/>
          <p:nvPr/>
        </p:nvSpPr>
        <p:spPr>
          <a:xfrm>
            <a:off x="1243894" y="5118758"/>
            <a:ext cx="10416664" cy="1378772"/>
          </a:xfrm>
          <a:prstGeom prst="rect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dataset is first sent to the Input neurons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data will propagate through the network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neuron is activated through the effects of the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input + weight + bias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interactions of neurons will yield a predicted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Output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1BB6E83-8AC7-7D34-1B04-A341216D70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93" y="5598781"/>
            <a:ext cx="646303" cy="771770"/>
          </a:xfrm>
          <a:prstGeom prst="rect">
            <a:avLst/>
          </a:prstGeom>
        </p:spPr>
      </p:pic>
      <p:sp>
        <p:nvSpPr>
          <p:cNvPr id="7" name="Right Arrow 14">
            <a:extLst>
              <a:ext uri="{FF2B5EF4-FFF2-40B4-BE49-F238E27FC236}">
                <a16:creationId xmlns:a16="http://schemas.microsoft.com/office/drawing/2014/main" id="{CD512D6E-0D39-B37C-CCE9-585A91905921}"/>
              </a:ext>
            </a:extLst>
          </p:cNvPr>
          <p:cNvSpPr/>
          <p:nvPr/>
        </p:nvSpPr>
        <p:spPr>
          <a:xfrm rot="1420722">
            <a:off x="4405317" y="1643682"/>
            <a:ext cx="1088019" cy="104173"/>
          </a:xfrm>
          <a:prstGeom prst="rightArrow">
            <a:avLst/>
          </a:prstGeom>
          <a:solidFill>
            <a:srgbClr val="FF00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ight Arrow 16">
            <a:extLst>
              <a:ext uri="{FF2B5EF4-FFF2-40B4-BE49-F238E27FC236}">
                <a16:creationId xmlns:a16="http://schemas.microsoft.com/office/drawing/2014/main" id="{37FC23C2-7EC3-095A-BA9F-07CA620B878F}"/>
              </a:ext>
            </a:extLst>
          </p:cNvPr>
          <p:cNvSpPr/>
          <p:nvPr/>
        </p:nvSpPr>
        <p:spPr>
          <a:xfrm rot="1564203">
            <a:off x="4396952" y="3052562"/>
            <a:ext cx="1088019" cy="104173"/>
          </a:xfrm>
          <a:prstGeom prst="rightArrow">
            <a:avLst/>
          </a:prstGeom>
          <a:solidFill>
            <a:srgbClr val="FF00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ight Arrow 19">
            <a:extLst>
              <a:ext uri="{FF2B5EF4-FFF2-40B4-BE49-F238E27FC236}">
                <a16:creationId xmlns:a16="http://schemas.microsoft.com/office/drawing/2014/main" id="{DDCA1A80-47A9-8ECA-E934-16DD7FCEDB18}"/>
              </a:ext>
            </a:extLst>
          </p:cNvPr>
          <p:cNvSpPr/>
          <p:nvPr/>
        </p:nvSpPr>
        <p:spPr>
          <a:xfrm rot="19782596">
            <a:off x="4405316" y="3982841"/>
            <a:ext cx="1088019" cy="104173"/>
          </a:xfrm>
          <a:prstGeom prst="rightArrow">
            <a:avLst/>
          </a:prstGeom>
          <a:solidFill>
            <a:srgbClr val="FF00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ight Arrow 17">
            <a:extLst>
              <a:ext uri="{FF2B5EF4-FFF2-40B4-BE49-F238E27FC236}">
                <a16:creationId xmlns:a16="http://schemas.microsoft.com/office/drawing/2014/main" id="{4DC57406-7811-99B5-BC24-12DF67D4420A}"/>
              </a:ext>
            </a:extLst>
          </p:cNvPr>
          <p:cNvSpPr/>
          <p:nvPr/>
        </p:nvSpPr>
        <p:spPr>
          <a:xfrm>
            <a:off x="6222354" y="2025875"/>
            <a:ext cx="843823" cy="104173"/>
          </a:xfrm>
          <a:prstGeom prst="rightArrow">
            <a:avLst/>
          </a:prstGeom>
          <a:solidFill>
            <a:srgbClr val="FF00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ight Arrow 18">
            <a:extLst>
              <a:ext uri="{FF2B5EF4-FFF2-40B4-BE49-F238E27FC236}">
                <a16:creationId xmlns:a16="http://schemas.microsoft.com/office/drawing/2014/main" id="{0D10F4F9-1504-41A3-84D2-7D67A342133E}"/>
              </a:ext>
            </a:extLst>
          </p:cNvPr>
          <p:cNvSpPr/>
          <p:nvPr/>
        </p:nvSpPr>
        <p:spPr>
          <a:xfrm>
            <a:off x="6214103" y="3324827"/>
            <a:ext cx="843823" cy="104173"/>
          </a:xfrm>
          <a:prstGeom prst="rightArrow">
            <a:avLst/>
          </a:prstGeom>
          <a:solidFill>
            <a:srgbClr val="FF00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ight Arrow 22">
            <a:extLst>
              <a:ext uri="{FF2B5EF4-FFF2-40B4-BE49-F238E27FC236}">
                <a16:creationId xmlns:a16="http://schemas.microsoft.com/office/drawing/2014/main" id="{E02CC192-A675-F4C9-EA5D-AEF7992FFBD8}"/>
              </a:ext>
            </a:extLst>
          </p:cNvPr>
          <p:cNvSpPr/>
          <p:nvPr/>
        </p:nvSpPr>
        <p:spPr>
          <a:xfrm rot="1421731">
            <a:off x="7770345" y="2539986"/>
            <a:ext cx="814474" cy="105674"/>
          </a:xfrm>
          <a:prstGeom prst="rightArrow">
            <a:avLst/>
          </a:prstGeom>
          <a:solidFill>
            <a:srgbClr val="FF00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3449AECA-714D-4C05-336D-86DCE716A005}"/>
              </a:ext>
            </a:extLst>
          </p:cNvPr>
          <p:cNvSpPr/>
          <p:nvPr/>
        </p:nvSpPr>
        <p:spPr>
          <a:xfrm rot="20157967">
            <a:off x="7831036" y="3094483"/>
            <a:ext cx="814474" cy="105674"/>
          </a:xfrm>
          <a:prstGeom prst="rightArrow">
            <a:avLst/>
          </a:prstGeom>
          <a:solidFill>
            <a:srgbClr val="FF00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E0BABC-8AB3-7209-82B5-9782563E1D80}"/>
              </a:ext>
            </a:extLst>
          </p:cNvPr>
          <p:cNvSpPr txBox="1"/>
          <p:nvPr/>
        </p:nvSpPr>
        <p:spPr>
          <a:xfrm>
            <a:off x="3334214" y="4526720"/>
            <a:ext cx="121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neurons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E62A5B-739D-0AD4-F1DF-02F7FC6798BD}"/>
              </a:ext>
            </a:extLst>
          </p:cNvPr>
          <p:cNvSpPr txBox="1"/>
          <p:nvPr/>
        </p:nvSpPr>
        <p:spPr>
          <a:xfrm>
            <a:off x="8631724" y="3220034"/>
            <a:ext cx="11151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 neuron</a:t>
            </a:r>
          </a:p>
        </p:txBody>
      </p:sp>
    </p:spTree>
    <p:extLst>
      <p:ext uri="{BB962C8B-B14F-4D97-AF65-F5344CB8AC3E}">
        <p14:creationId xmlns:p14="http://schemas.microsoft.com/office/powerpoint/2010/main" val="21511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7" grpId="0" animBg="1"/>
      <p:bldP spid="8" grpId="0" animBg="1"/>
      <p:bldP spid="10" grpId="0" animBg="1"/>
      <p:bldP spid="11" grpId="0" animBg="1"/>
      <p:bldP spid="15" grpId="0" animBg="1"/>
      <p:bldP spid="21" grpId="0" animBg="1"/>
      <p:bldP spid="2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613820-5E24-66C2-6F7A-A73DC647B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0D3CBB-5E4F-6F53-D1B2-84A0BC7A1FDB}"/>
              </a:ext>
            </a:extLst>
          </p:cNvPr>
          <p:cNvSpPr txBox="1"/>
          <p:nvPr/>
        </p:nvSpPr>
        <p:spPr>
          <a:xfrm>
            <a:off x="596344" y="26907"/>
            <a:ext cx="45752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Neural Network operation</a:t>
            </a:r>
          </a:p>
        </p:txBody>
      </p:sp>
      <p:sp>
        <p:nvSpPr>
          <p:cNvPr id="5" name="Right Arrow 3">
            <a:extLst>
              <a:ext uri="{FF2B5EF4-FFF2-40B4-BE49-F238E27FC236}">
                <a16:creationId xmlns:a16="http://schemas.microsoft.com/office/drawing/2014/main" id="{480E0ED5-D9EF-D430-580B-2B20DE59E969}"/>
              </a:ext>
            </a:extLst>
          </p:cNvPr>
          <p:cNvSpPr/>
          <p:nvPr/>
        </p:nvSpPr>
        <p:spPr>
          <a:xfrm>
            <a:off x="2377691" y="1287577"/>
            <a:ext cx="787079" cy="138896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ight Arrow 10">
            <a:extLst>
              <a:ext uri="{FF2B5EF4-FFF2-40B4-BE49-F238E27FC236}">
                <a16:creationId xmlns:a16="http://schemas.microsoft.com/office/drawing/2014/main" id="{F03B839B-7783-E23E-E01D-FEAB8260D996}"/>
              </a:ext>
            </a:extLst>
          </p:cNvPr>
          <p:cNvSpPr/>
          <p:nvPr/>
        </p:nvSpPr>
        <p:spPr>
          <a:xfrm>
            <a:off x="2368323" y="2728906"/>
            <a:ext cx="787079" cy="138896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ight Arrow 11">
            <a:extLst>
              <a:ext uri="{FF2B5EF4-FFF2-40B4-BE49-F238E27FC236}">
                <a16:creationId xmlns:a16="http://schemas.microsoft.com/office/drawing/2014/main" id="{E0ECE2A8-C8CF-43BF-9CA4-39FBA1832476}"/>
              </a:ext>
            </a:extLst>
          </p:cNvPr>
          <p:cNvSpPr/>
          <p:nvPr/>
        </p:nvSpPr>
        <p:spPr>
          <a:xfrm>
            <a:off x="2345888" y="4004041"/>
            <a:ext cx="787079" cy="138896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299E46-7E21-8EC3-5223-AE941831BDA7}"/>
              </a:ext>
            </a:extLst>
          </p:cNvPr>
          <p:cNvSpPr/>
          <p:nvPr/>
        </p:nvSpPr>
        <p:spPr>
          <a:xfrm>
            <a:off x="2277816" y="978405"/>
            <a:ext cx="9492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Input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3A12FF-75E3-05E7-DD0B-9B994824FB21}"/>
              </a:ext>
            </a:extLst>
          </p:cNvPr>
          <p:cNvSpPr/>
          <p:nvPr/>
        </p:nvSpPr>
        <p:spPr>
          <a:xfrm>
            <a:off x="2277817" y="2376355"/>
            <a:ext cx="9492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Input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786472-2D59-B0CA-5FF5-9EBCCD6EFDB2}"/>
              </a:ext>
            </a:extLst>
          </p:cNvPr>
          <p:cNvSpPr/>
          <p:nvPr/>
        </p:nvSpPr>
        <p:spPr>
          <a:xfrm>
            <a:off x="2260987" y="3634818"/>
            <a:ext cx="9492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Input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5686575-E42B-F4D7-CFC0-95430DC169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908" y="888042"/>
            <a:ext cx="6178545" cy="3717412"/>
          </a:xfrm>
          <a:prstGeom prst="rect">
            <a:avLst/>
          </a:prstGeom>
        </p:spPr>
      </p:pic>
      <p:sp>
        <p:nvSpPr>
          <p:cNvPr id="17" name="Right Arrow 23">
            <a:extLst>
              <a:ext uri="{FF2B5EF4-FFF2-40B4-BE49-F238E27FC236}">
                <a16:creationId xmlns:a16="http://schemas.microsoft.com/office/drawing/2014/main" id="{328EADFB-CA62-122C-1727-E6F032FEC164}"/>
              </a:ext>
            </a:extLst>
          </p:cNvPr>
          <p:cNvSpPr/>
          <p:nvPr/>
        </p:nvSpPr>
        <p:spPr>
          <a:xfrm>
            <a:off x="9204487" y="2702828"/>
            <a:ext cx="1292664" cy="181844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0E1CAB-5EE0-5480-0AE2-E727B342342B}"/>
              </a:ext>
            </a:extLst>
          </p:cNvPr>
          <p:cNvSpPr txBox="1"/>
          <p:nvPr/>
        </p:nvSpPr>
        <p:spPr>
          <a:xfrm rot="165675">
            <a:off x="10461812" y="2634118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Output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8B6667-4494-20BD-85FB-ACF1D3ABD827}"/>
              </a:ext>
            </a:extLst>
          </p:cNvPr>
          <p:cNvSpPr/>
          <p:nvPr/>
        </p:nvSpPr>
        <p:spPr>
          <a:xfrm>
            <a:off x="1161540" y="4975817"/>
            <a:ext cx="8042947" cy="822403"/>
          </a:xfrm>
          <a:prstGeom prst="rect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error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calculated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  <a:sym typeface="Wingdings" panose="05000000000000000000" pitchFamily="2" charset="2"/>
              </a:rPr>
              <a:t>ERROR = True Result - Output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Calligraphy" panose="03010101010101010101" pitchFamily="66" charset="0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B4D298D-6D2B-CC94-3DDE-AC319842F74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315" y="5913562"/>
            <a:ext cx="646303" cy="771770"/>
          </a:xfrm>
          <a:prstGeom prst="rect">
            <a:avLst/>
          </a:prstGeom>
        </p:spPr>
      </p:pic>
      <p:sp>
        <p:nvSpPr>
          <p:cNvPr id="7" name="Right Arrow 14">
            <a:extLst>
              <a:ext uri="{FF2B5EF4-FFF2-40B4-BE49-F238E27FC236}">
                <a16:creationId xmlns:a16="http://schemas.microsoft.com/office/drawing/2014/main" id="{EC1EEE9F-E386-01DD-A7A1-A7719CC0D1B9}"/>
              </a:ext>
            </a:extLst>
          </p:cNvPr>
          <p:cNvSpPr/>
          <p:nvPr/>
        </p:nvSpPr>
        <p:spPr>
          <a:xfrm rot="1420722">
            <a:off x="4405317" y="1643682"/>
            <a:ext cx="1088019" cy="104173"/>
          </a:xfrm>
          <a:prstGeom prst="rightArrow">
            <a:avLst/>
          </a:prstGeom>
          <a:solidFill>
            <a:srgbClr val="FF00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ight Arrow 16">
            <a:extLst>
              <a:ext uri="{FF2B5EF4-FFF2-40B4-BE49-F238E27FC236}">
                <a16:creationId xmlns:a16="http://schemas.microsoft.com/office/drawing/2014/main" id="{183C02F7-5C26-61CB-2EEC-D0EFB2C55A7F}"/>
              </a:ext>
            </a:extLst>
          </p:cNvPr>
          <p:cNvSpPr/>
          <p:nvPr/>
        </p:nvSpPr>
        <p:spPr>
          <a:xfrm rot="1564203">
            <a:off x="4396952" y="3052562"/>
            <a:ext cx="1088019" cy="104173"/>
          </a:xfrm>
          <a:prstGeom prst="rightArrow">
            <a:avLst/>
          </a:prstGeom>
          <a:solidFill>
            <a:srgbClr val="FF00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ight Arrow 19">
            <a:extLst>
              <a:ext uri="{FF2B5EF4-FFF2-40B4-BE49-F238E27FC236}">
                <a16:creationId xmlns:a16="http://schemas.microsoft.com/office/drawing/2014/main" id="{CA7BAB5B-2920-D5CF-EEF0-664DEAF3C871}"/>
              </a:ext>
            </a:extLst>
          </p:cNvPr>
          <p:cNvSpPr/>
          <p:nvPr/>
        </p:nvSpPr>
        <p:spPr>
          <a:xfrm rot="19782596">
            <a:off x="4405316" y="3982841"/>
            <a:ext cx="1088019" cy="104173"/>
          </a:xfrm>
          <a:prstGeom prst="rightArrow">
            <a:avLst/>
          </a:prstGeom>
          <a:solidFill>
            <a:srgbClr val="FF00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ight Arrow 17">
            <a:extLst>
              <a:ext uri="{FF2B5EF4-FFF2-40B4-BE49-F238E27FC236}">
                <a16:creationId xmlns:a16="http://schemas.microsoft.com/office/drawing/2014/main" id="{E688DEEF-4F74-F080-6C7F-5298856DAFD4}"/>
              </a:ext>
            </a:extLst>
          </p:cNvPr>
          <p:cNvSpPr/>
          <p:nvPr/>
        </p:nvSpPr>
        <p:spPr>
          <a:xfrm>
            <a:off x="6222354" y="2025875"/>
            <a:ext cx="843823" cy="104173"/>
          </a:xfrm>
          <a:prstGeom prst="rightArrow">
            <a:avLst/>
          </a:prstGeom>
          <a:solidFill>
            <a:srgbClr val="FF00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ight Arrow 18">
            <a:extLst>
              <a:ext uri="{FF2B5EF4-FFF2-40B4-BE49-F238E27FC236}">
                <a16:creationId xmlns:a16="http://schemas.microsoft.com/office/drawing/2014/main" id="{6254BD0F-27EB-24A0-0B91-6376CCFB1386}"/>
              </a:ext>
            </a:extLst>
          </p:cNvPr>
          <p:cNvSpPr/>
          <p:nvPr/>
        </p:nvSpPr>
        <p:spPr>
          <a:xfrm>
            <a:off x="6214103" y="3324827"/>
            <a:ext cx="843823" cy="104173"/>
          </a:xfrm>
          <a:prstGeom prst="rightArrow">
            <a:avLst/>
          </a:prstGeom>
          <a:solidFill>
            <a:srgbClr val="FF00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ight Arrow 22">
            <a:extLst>
              <a:ext uri="{FF2B5EF4-FFF2-40B4-BE49-F238E27FC236}">
                <a16:creationId xmlns:a16="http://schemas.microsoft.com/office/drawing/2014/main" id="{7AE65F1C-3170-BF67-CBD9-390B80C70C92}"/>
              </a:ext>
            </a:extLst>
          </p:cNvPr>
          <p:cNvSpPr/>
          <p:nvPr/>
        </p:nvSpPr>
        <p:spPr>
          <a:xfrm rot="1421731">
            <a:off x="7770345" y="2539986"/>
            <a:ext cx="814474" cy="105674"/>
          </a:xfrm>
          <a:prstGeom prst="rightArrow">
            <a:avLst/>
          </a:prstGeom>
          <a:solidFill>
            <a:srgbClr val="FF00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FB79D49A-D4A4-3425-9CDC-A19340FBB86C}"/>
              </a:ext>
            </a:extLst>
          </p:cNvPr>
          <p:cNvSpPr/>
          <p:nvPr/>
        </p:nvSpPr>
        <p:spPr>
          <a:xfrm rot="20157967">
            <a:off x="7831036" y="3094483"/>
            <a:ext cx="814474" cy="105674"/>
          </a:xfrm>
          <a:prstGeom prst="rightArrow">
            <a:avLst/>
          </a:prstGeom>
          <a:solidFill>
            <a:srgbClr val="FF00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9CB377-EB2E-C864-14EF-B3994A69EC6E}"/>
              </a:ext>
            </a:extLst>
          </p:cNvPr>
          <p:cNvSpPr txBox="1"/>
          <p:nvPr/>
        </p:nvSpPr>
        <p:spPr>
          <a:xfrm>
            <a:off x="9443245" y="3082736"/>
            <a:ext cx="274875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Calculation of error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  <a:sym typeface="Wingdings" panose="05000000000000000000" pitchFamily="2" charset="2"/>
              </a:rPr>
              <a:t>ERROR = True Result - Output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Calligraphy" panose="03010101010101010101" pitchFamily="66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Calligraphy" panose="03010101010101010101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5866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347753-96FF-6861-0A3E-50ADF6B4F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D9CDB1-C4F5-8A61-4032-5A5616B185C1}"/>
              </a:ext>
            </a:extLst>
          </p:cNvPr>
          <p:cNvSpPr txBox="1"/>
          <p:nvPr/>
        </p:nvSpPr>
        <p:spPr>
          <a:xfrm>
            <a:off x="596344" y="26907"/>
            <a:ext cx="7891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neural network “learns” to improve itself</a:t>
            </a:r>
          </a:p>
        </p:txBody>
      </p:sp>
      <p:sp>
        <p:nvSpPr>
          <p:cNvPr id="5" name="Right Arrow 3">
            <a:extLst>
              <a:ext uri="{FF2B5EF4-FFF2-40B4-BE49-F238E27FC236}">
                <a16:creationId xmlns:a16="http://schemas.microsoft.com/office/drawing/2014/main" id="{FB805DB3-8600-7DAB-E184-64B9D6CE7954}"/>
              </a:ext>
            </a:extLst>
          </p:cNvPr>
          <p:cNvSpPr/>
          <p:nvPr/>
        </p:nvSpPr>
        <p:spPr>
          <a:xfrm>
            <a:off x="2377691" y="1287577"/>
            <a:ext cx="787079" cy="138896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ight Arrow 10">
            <a:extLst>
              <a:ext uri="{FF2B5EF4-FFF2-40B4-BE49-F238E27FC236}">
                <a16:creationId xmlns:a16="http://schemas.microsoft.com/office/drawing/2014/main" id="{E12B2A02-812E-B05F-74C4-130E1F441B7A}"/>
              </a:ext>
            </a:extLst>
          </p:cNvPr>
          <p:cNvSpPr/>
          <p:nvPr/>
        </p:nvSpPr>
        <p:spPr>
          <a:xfrm>
            <a:off x="2368323" y="2728906"/>
            <a:ext cx="787079" cy="138896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ight Arrow 11">
            <a:extLst>
              <a:ext uri="{FF2B5EF4-FFF2-40B4-BE49-F238E27FC236}">
                <a16:creationId xmlns:a16="http://schemas.microsoft.com/office/drawing/2014/main" id="{86A57FFC-914C-E342-1BF8-EF7EFF9EBD20}"/>
              </a:ext>
            </a:extLst>
          </p:cNvPr>
          <p:cNvSpPr/>
          <p:nvPr/>
        </p:nvSpPr>
        <p:spPr>
          <a:xfrm>
            <a:off x="2345888" y="4004041"/>
            <a:ext cx="787079" cy="138896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CCAABC-57E1-9E0C-345B-B3044B43E123}"/>
              </a:ext>
            </a:extLst>
          </p:cNvPr>
          <p:cNvSpPr/>
          <p:nvPr/>
        </p:nvSpPr>
        <p:spPr>
          <a:xfrm>
            <a:off x="2277816" y="978405"/>
            <a:ext cx="9492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Input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06F120-42C8-4012-2751-A35203BD9997}"/>
              </a:ext>
            </a:extLst>
          </p:cNvPr>
          <p:cNvSpPr/>
          <p:nvPr/>
        </p:nvSpPr>
        <p:spPr>
          <a:xfrm>
            <a:off x="2277817" y="2376355"/>
            <a:ext cx="9492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Input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B8F15F-EFC4-D0B2-DE76-361596692825}"/>
              </a:ext>
            </a:extLst>
          </p:cNvPr>
          <p:cNvSpPr/>
          <p:nvPr/>
        </p:nvSpPr>
        <p:spPr>
          <a:xfrm>
            <a:off x="2260987" y="3634818"/>
            <a:ext cx="9492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Input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C2E431-63CF-4AFA-D58A-B5961AE27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908" y="888042"/>
            <a:ext cx="6580942" cy="395952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9202BEC-AD14-DBE8-28F1-04EC2150F392}"/>
              </a:ext>
            </a:extLst>
          </p:cNvPr>
          <p:cNvSpPr/>
          <p:nvPr/>
        </p:nvSpPr>
        <p:spPr>
          <a:xfrm>
            <a:off x="1161540" y="4975817"/>
            <a:ext cx="10612704" cy="1662709"/>
          </a:xfrm>
          <a:prstGeom prst="rect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ERROR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sent back into the network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ERROR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propagates backward through the network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Updating the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weights (w)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biases (b)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new values to minimize the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ERROR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is equivalent to the neural network </a:t>
            </a: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LEARNs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improve itself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  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Calligraphy" panose="03010101010101010101" pitchFamily="66" charset="0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0BEADC4-659A-0B2D-5298-D866EB1ED2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93" y="5598781"/>
            <a:ext cx="646303" cy="771770"/>
          </a:xfrm>
          <a:prstGeom prst="rect">
            <a:avLst/>
          </a:prstGeom>
        </p:spPr>
      </p:pic>
      <p:sp>
        <p:nvSpPr>
          <p:cNvPr id="7" name="Right Arrow 14">
            <a:extLst>
              <a:ext uri="{FF2B5EF4-FFF2-40B4-BE49-F238E27FC236}">
                <a16:creationId xmlns:a16="http://schemas.microsoft.com/office/drawing/2014/main" id="{C388593A-B4ED-B160-E3D6-D9FD5FE796FB}"/>
              </a:ext>
            </a:extLst>
          </p:cNvPr>
          <p:cNvSpPr/>
          <p:nvPr/>
        </p:nvSpPr>
        <p:spPr>
          <a:xfrm rot="1420722">
            <a:off x="4405317" y="1643682"/>
            <a:ext cx="1088019" cy="104173"/>
          </a:xfrm>
          <a:prstGeom prst="rightArrow">
            <a:avLst/>
          </a:prstGeom>
          <a:solidFill>
            <a:srgbClr val="FF00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ight Arrow 16">
            <a:extLst>
              <a:ext uri="{FF2B5EF4-FFF2-40B4-BE49-F238E27FC236}">
                <a16:creationId xmlns:a16="http://schemas.microsoft.com/office/drawing/2014/main" id="{E952AA42-0E4A-2701-0106-8968E1FD17C5}"/>
              </a:ext>
            </a:extLst>
          </p:cNvPr>
          <p:cNvSpPr/>
          <p:nvPr/>
        </p:nvSpPr>
        <p:spPr>
          <a:xfrm rot="1564203">
            <a:off x="4396952" y="3052562"/>
            <a:ext cx="1088019" cy="104173"/>
          </a:xfrm>
          <a:prstGeom prst="rightArrow">
            <a:avLst/>
          </a:prstGeom>
          <a:solidFill>
            <a:srgbClr val="FF00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ight Arrow 19">
            <a:extLst>
              <a:ext uri="{FF2B5EF4-FFF2-40B4-BE49-F238E27FC236}">
                <a16:creationId xmlns:a16="http://schemas.microsoft.com/office/drawing/2014/main" id="{FC807BE1-7043-DEBC-1233-8C2D728BFFDE}"/>
              </a:ext>
            </a:extLst>
          </p:cNvPr>
          <p:cNvSpPr/>
          <p:nvPr/>
        </p:nvSpPr>
        <p:spPr>
          <a:xfrm rot="19782596">
            <a:off x="4405316" y="3982841"/>
            <a:ext cx="1088019" cy="104173"/>
          </a:xfrm>
          <a:prstGeom prst="rightArrow">
            <a:avLst/>
          </a:prstGeom>
          <a:solidFill>
            <a:srgbClr val="FF00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ight Arrow 17">
            <a:extLst>
              <a:ext uri="{FF2B5EF4-FFF2-40B4-BE49-F238E27FC236}">
                <a16:creationId xmlns:a16="http://schemas.microsoft.com/office/drawing/2014/main" id="{274AC787-C374-FA2C-D7AB-08390187E809}"/>
              </a:ext>
            </a:extLst>
          </p:cNvPr>
          <p:cNvSpPr/>
          <p:nvPr/>
        </p:nvSpPr>
        <p:spPr>
          <a:xfrm>
            <a:off x="6222354" y="2025875"/>
            <a:ext cx="843823" cy="104173"/>
          </a:xfrm>
          <a:prstGeom prst="rightArrow">
            <a:avLst/>
          </a:prstGeom>
          <a:solidFill>
            <a:srgbClr val="FF00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ight Arrow 18">
            <a:extLst>
              <a:ext uri="{FF2B5EF4-FFF2-40B4-BE49-F238E27FC236}">
                <a16:creationId xmlns:a16="http://schemas.microsoft.com/office/drawing/2014/main" id="{E0946445-4241-DF90-4BF5-7C938EBF2E6B}"/>
              </a:ext>
            </a:extLst>
          </p:cNvPr>
          <p:cNvSpPr/>
          <p:nvPr/>
        </p:nvSpPr>
        <p:spPr>
          <a:xfrm>
            <a:off x="6214103" y="3324827"/>
            <a:ext cx="843823" cy="104173"/>
          </a:xfrm>
          <a:prstGeom prst="rightArrow">
            <a:avLst/>
          </a:prstGeom>
          <a:solidFill>
            <a:srgbClr val="FF00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ight Arrow 22">
            <a:extLst>
              <a:ext uri="{FF2B5EF4-FFF2-40B4-BE49-F238E27FC236}">
                <a16:creationId xmlns:a16="http://schemas.microsoft.com/office/drawing/2014/main" id="{F0BF9EAC-40D7-9B42-34D5-02327CB1FD09}"/>
              </a:ext>
            </a:extLst>
          </p:cNvPr>
          <p:cNvSpPr/>
          <p:nvPr/>
        </p:nvSpPr>
        <p:spPr>
          <a:xfrm rot="1421731">
            <a:off x="7770345" y="2539986"/>
            <a:ext cx="814474" cy="105674"/>
          </a:xfrm>
          <a:prstGeom prst="rightArrow">
            <a:avLst/>
          </a:prstGeom>
          <a:solidFill>
            <a:srgbClr val="FF00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480E3915-DCFB-1465-2AEE-2F5656F2EEAA}"/>
              </a:ext>
            </a:extLst>
          </p:cNvPr>
          <p:cNvSpPr/>
          <p:nvPr/>
        </p:nvSpPr>
        <p:spPr>
          <a:xfrm rot="20157967">
            <a:off x="7831036" y="3094483"/>
            <a:ext cx="814474" cy="105674"/>
          </a:xfrm>
          <a:prstGeom prst="rightArrow">
            <a:avLst/>
          </a:prstGeom>
          <a:solidFill>
            <a:srgbClr val="FF00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ight Arrow 23">
            <a:extLst>
              <a:ext uri="{FF2B5EF4-FFF2-40B4-BE49-F238E27FC236}">
                <a16:creationId xmlns:a16="http://schemas.microsoft.com/office/drawing/2014/main" id="{73E4FC50-8B6A-ED93-64FF-1902224BE813}"/>
              </a:ext>
            </a:extLst>
          </p:cNvPr>
          <p:cNvSpPr/>
          <p:nvPr/>
        </p:nvSpPr>
        <p:spPr>
          <a:xfrm rot="10800000">
            <a:off x="9616420" y="2741825"/>
            <a:ext cx="1530963" cy="181844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A2FB3-CD83-3581-B411-0DB79664A7D5}"/>
              </a:ext>
            </a:extLst>
          </p:cNvPr>
          <p:cNvSpPr txBox="1"/>
          <p:nvPr/>
        </p:nvSpPr>
        <p:spPr>
          <a:xfrm>
            <a:off x="9845316" y="2977069"/>
            <a:ext cx="20746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Calligraphy" panose="03010101010101010101" pitchFamily="66" charset="0"/>
                <a:ea typeface="+mn-ea"/>
                <a:cs typeface="+mn-cs"/>
              </a:rPr>
              <a:t>ERROR is sent back into the network</a:t>
            </a:r>
          </a:p>
        </p:txBody>
      </p:sp>
    </p:spTree>
    <p:extLst>
      <p:ext uri="{BB962C8B-B14F-4D97-AF65-F5344CB8AC3E}">
        <p14:creationId xmlns:p14="http://schemas.microsoft.com/office/powerpoint/2010/main" val="3485793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03F658-C59E-B2F5-E26D-14FC1237E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4D45A1A-FE88-A06C-A6B3-AF494A2763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36" y="3745524"/>
            <a:ext cx="1133892" cy="13540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CA78F5-80EC-C728-60C5-95C2F5093A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95" y="268468"/>
            <a:ext cx="687133" cy="1489994"/>
          </a:xfrm>
          <a:prstGeom prst="rect">
            <a:avLst/>
          </a:prstGeom>
        </p:spPr>
      </p:pic>
      <p:sp>
        <p:nvSpPr>
          <p:cNvPr id="2" name="Cloud 1">
            <a:extLst>
              <a:ext uri="{FF2B5EF4-FFF2-40B4-BE49-F238E27FC236}">
                <a16:creationId xmlns:a16="http://schemas.microsoft.com/office/drawing/2014/main" id="{A0E41DE1-F172-0DC6-70AB-5B1218191FFC}"/>
              </a:ext>
            </a:extLst>
          </p:cNvPr>
          <p:cNvSpPr/>
          <p:nvPr/>
        </p:nvSpPr>
        <p:spPr>
          <a:xfrm>
            <a:off x="1409026" y="268468"/>
            <a:ext cx="6171645" cy="1056240"/>
          </a:xfrm>
          <a:prstGeom prst="cloud">
            <a:avLst/>
          </a:prstGeom>
          <a:solidFill>
            <a:srgbClr val="CCECFF"/>
          </a:solidFill>
          <a:ln w="412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Why are neural networks important in Generative AI?</a:t>
            </a: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87801486-1E49-A0DA-4766-F22658BDAAE8}"/>
              </a:ext>
            </a:extLst>
          </p:cNvPr>
          <p:cNvSpPr/>
          <p:nvPr/>
        </p:nvSpPr>
        <p:spPr>
          <a:xfrm>
            <a:off x="1777340" y="2406315"/>
            <a:ext cx="8494954" cy="3637785"/>
          </a:xfrm>
          <a:prstGeom prst="roundRect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342900" lvl="0" indent="-342900">
              <a:buFont typeface="Wingdings" panose="05000000000000000000" pitchFamily="2" charset="2"/>
              <a:buChar char="v"/>
              <a:defRPr/>
            </a:pPr>
            <a:r>
              <a:rPr lang="en-US" sz="2000" dirty="0"/>
              <a:t>Neural networks are the “engines” for generative AI </a:t>
            </a:r>
          </a:p>
          <a:p>
            <a:pPr marL="342900" lvl="0" indent="-342900">
              <a:buFont typeface="Wingdings" panose="05000000000000000000" pitchFamily="2" charset="2"/>
              <a:buChar char="v"/>
              <a:defRPr/>
            </a:pPr>
            <a:r>
              <a:rPr lang="en-US" sz="2000" dirty="0"/>
              <a:t>Neural networks allow generative models to learn complex patterns from large datasets and use that knowledge to create new content like text, images, or sound. </a:t>
            </a:r>
          </a:p>
          <a:p>
            <a:pPr marL="342900" lvl="0" indent="-342900">
              <a:buFont typeface="Wingdings" panose="05000000000000000000" pitchFamily="2" charset="2"/>
              <a:buChar char="v"/>
              <a:defRPr/>
            </a:pPr>
            <a:r>
              <a:rPr lang="en-US" sz="2000" dirty="0"/>
              <a:t>These "engines" of generative AI can process unstructured data, adapt to changing information, and generate outputs that mimic human creativity, making them the foundational technology behind generative systems. 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4738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AC6D42-6CDD-E035-007B-E656E95F0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C9EC57-E70B-A7B3-6155-03158543C7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34" y="5099539"/>
            <a:ext cx="1133892" cy="13540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08D05C-E5C7-AE08-0E48-A1CC17DCC5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95" y="268468"/>
            <a:ext cx="687133" cy="1489994"/>
          </a:xfrm>
          <a:prstGeom prst="rect">
            <a:avLst/>
          </a:prstGeom>
        </p:spPr>
      </p:pic>
      <p:sp>
        <p:nvSpPr>
          <p:cNvPr id="2" name="Cloud 1">
            <a:extLst>
              <a:ext uri="{FF2B5EF4-FFF2-40B4-BE49-F238E27FC236}">
                <a16:creationId xmlns:a16="http://schemas.microsoft.com/office/drawing/2014/main" id="{19467E74-464B-4234-F169-ADD6087EA150}"/>
              </a:ext>
            </a:extLst>
          </p:cNvPr>
          <p:cNvSpPr/>
          <p:nvPr/>
        </p:nvSpPr>
        <p:spPr>
          <a:xfrm>
            <a:off x="1409026" y="268468"/>
            <a:ext cx="6171645" cy="1056240"/>
          </a:xfrm>
          <a:prstGeom prst="cloud">
            <a:avLst/>
          </a:prstGeom>
          <a:solidFill>
            <a:srgbClr val="CCECFF"/>
          </a:solidFill>
          <a:ln w="412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How do neural networks enable Generative AI?</a:t>
            </a: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60D9A964-9ABE-B893-BB8F-B3974A7B4CC0}"/>
              </a:ext>
            </a:extLst>
          </p:cNvPr>
          <p:cNvSpPr/>
          <p:nvPr/>
        </p:nvSpPr>
        <p:spPr>
          <a:xfrm>
            <a:off x="1529347" y="1324708"/>
            <a:ext cx="9253627" cy="5264823"/>
          </a:xfrm>
          <a:prstGeom prst="roundRect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US" sz="2000" dirty="0"/>
              <a:t>Neural networks enable Generative systems to achieve the following functions</a:t>
            </a:r>
          </a:p>
          <a:p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0066FF"/>
                </a:solidFill>
              </a:rPr>
              <a:t>Pattern Recognition</a:t>
            </a:r>
            <a:r>
              <a:rPr lang="en-US" dirty="0"/>
              <a:t>: identifying intricate relationships and patterns within data, which is crucial for generating new content. 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0066FF"/>
                </a:solidFill>
              </a:rPr>
              <a:t>Data-Driven Learning</a:t>
            </a:r>
            <a:r>
              <a:rPr lang="en-US" dirty="0"/>
              <a:t>: Neural networks learn from vast datasets, enabling them to understand and replicate the underlying structure of the data they are trained on. 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0066FF"/>
                </a:solidFill>
              </a:rPr>
              <a:t>Content Generation</a:t>
            </a:r>
            <a:r>
              <a:rPr lang="en-US" dirty="0"/>
              <a:t>: Once trained, these networks can produce entirely new data, such as text, images, or audio, that resembles the patterns they've learned from. 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0066FF"/>
                </a:solidFill>
              </a:rPr>
              <a:t>Deep Learning</a:t>
            </a:r>
            <a:r>
              <a:rPr lang="en-US" dirty="0"/>
              <a:t>: Deep neural networks can capture complex, high-level abstractions from data, leading to more sophisticated content generation. 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0066FF"/>
                </a:solidFill>
              </a:rPr>
              <a:t>Adaptability</a:t>
            </a:r>
            <a:r>
              <a:rPr lang="en-US" dirty="0"/>
              <a:t>: Neural networks can adapt and improve through iterative learning processes and thus becoming more proficient over time. </a:t>
            </a:r>
          </a:p>
        </p:txBody>
      </p:sp>
    </p:spTree>
    <p:extLst>
      <p:ext uri="{BB962C8B-B14F-4D97-AF65-F5344CB8AC3E}">
        <p14:creationId xmlns:p14="http://schemas.microsoft.com/office/powerpoint/2010/main" val="3551030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32D2FB-CF56-174D-F7A9-03798000E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BBB3C8-6C5D-22D0-80E0-76B5C166B0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52" y="4708422"/>
            <a:ext cx="937879" cy="1119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19629D-D95C-1929-BD12-CB90E171BF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61" y="209854"/>
            <a:ext cx="653631" cy="1417348"/>
          </a:xfrm>
          <a:prstGeom prst="rect">
            <a:avLst/>
          </a:prstGeom>
        </p:spPr>
      </p:pic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46228034-073D-033D-8AB6-D72B797AA368}"/>
              </a:ext>
            </a:extLst>
          </p:cNvPr>
          <p:cNvSpPr/>
          <p:nvPr/>
        </p:nvSpPr>
        <p:spPr>
          <a:xfrm>
            <a:off x="1350102" y="2719328"/>
            <a:ext cx="9939920" cy="1989094"/>
          </a:xfrm>
          <a:prstGeom prst="roundRect">
            <a:avLst/>
          </a:prstGeom>
          <a:solidFill>
            <a:srgbClr val="FFF2CC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building blocks of generative AI are </a:t>
            </a: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Transformer </a:t>
            </a:r>
            <a:r>
              <a:rPr lang="en-US" sz="2000" b="1" i="1" kern="0" noProof="0" dirty="0">
                <a:solidFill>
                  <a:srgbClr val="C00000"/>
                </a:solidFill>
                <a:latin typeface="Calibri" panose="020F0502020204030204"/>
              </a:rPr>
              <a:t>N</a:t>
            </a: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etworks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Transformer networks are a type of deep learning neural networks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Just as Transformer networks are neural networks – they need training with a large  amount of data to function properly  </a:t>
            </a:r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C2046B5C-6832-C336-4D70-C06CF0E4E9DF}"/>
              </a:ext>
            </a:extLst>
          </p:cNvPr>
          <p:cNvSpPr/>
          <p:nvPr/>
        </p:nvSpPr>
        <p:spPr>
          <a:xfrm>
            <a:off x="1350102" y="252326"/>
            <a:ext cx="7775610" cy="1989094"/>
          </a:xfrm>
          <a:prstGeom prst="cloud">
            <a:avLst/>
          </a:prstGeom>
          <a:solidFill>
            <a:srgbClr val="CCECFF"/>
          </a:solidFill>
          <a:ln w="412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are the building blocks of generative AI?</a:t>
            </a:r>
          </a:p>
        </p:txBody>
      </p:sp>
    </p:spTree>
    <p:extLst>
      <p:ext uri="{BB962C8B-B14F-4D97-AF65-F5344CB8AC3E}">
        <p14:creationId xmlns:p14="http://schemas.microsoft.com/office/powerpoint/2010/main" val="308622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2AF970-F2AA-FA7A-C817-CAC2CCF79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>
            <a:extLst>
              <a:ext uri="{FF2B5EF4-FFF2-40B4-BE49-F238E27FC236}">
                <a16:creationId xmlns:a16="http://schemas.microsoft.com/office/drawing/2014/main" id="{B44B5E4F-5A8E-22F9-15B7-946F84C47ADA}"/>
              </a:ext>
            </a:extLst>
          </p:cNvPr>
          <p:cNvSpPr/>
          <p:nvPr/>
        </p:nvSpPr>
        <p:spPr>
          <a:xfrm>
            <a:off x="908610" y="0"/>
            <a:ext cx="7790174" cy="1375982"/>
          </a:xfrm>
          <a:prstGeom prst="cloud">
            <a:avLst/>
          </a:prstGeom>
          <a:solidFill>
            <a:srgbClr val="CCEC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are a some of the main uses of Transformer Networks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BB17A0-DE4E-6F71-0E03-4461E6B7F8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45" y="175026"/>
            <a:ext cx="424134" cy="919700"/>
          </a:xfrm>
          <a:prstGeom prst="rect">
            <a:avLst/>
          </a:prstGeom>
        </p:spPr>
      </p:pic>
      <p:sp>
        <p:nvSpPr>
          <p:cNvPr id="4" name="Cloud 3">
            <a:extLst>
              <a:ext uri="{FF2B5EF4-FFF2-40B4-BE49-F238E27FC236}">
                <a16:creationId xmlns:a16="http://schemas.microsoft.com/office/drawing/2014/main" id="{92F58EED-FD4E-DF33-653F-77717E04CE8F}"/>
              </a:ext>
            </a:extLst>
          </p:cNvPr>
          <p:cNvSpPr/>
          <p:nvPr/>
        </p:nvSpPr>
        <p:spPr>
          <a:xfrm>
            <a:off x="1469985" y="2013995"/>
            <a:ext cx="10314337" cy="3680749"/>
          </a:xfrm>
          <a:prstGeom prst="cloud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Natural language processing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604020202020204" pitchFamily="34" charset="0"/>
                <a:ea typeface="+mn-ea"/>
                <a:cs typeface="+mn-cs"/>
              </a:rPr>
              <a:t>Computer vision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604020202020204" pitchFamily="34" charset="0"/>
                <a:ea typeface="+mn-ea"/>
                <a:cs typeface="+mn-cs"/>
              </a:rPr>
              <a:t>Drug discovery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604020202020204" pitchFamily="34" charset="0"/>
                <a:ea typeface="+mn-ea"/>
                <a:cs typeface="+mn-cs"/>
              </a:rPr>
              <a:t>Time series forecasting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A34D7B-5B27-F09F-2C4F-BE807CFC63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985" y="5136401"/>
            <a:ext cx="1001864" cy="119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56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79819F-3240-0915-0A36-F8E4762DE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>
            <a:extLst>
              <a:ext uri="{FF2B5EF4-FFF2-40B4-BE49-F238E27FC236}">
                <a16:creationId xmlns:a16="http://schemas.microsoft.com/office/drawing/2014/main" id="{8EA2514E-116D-80A9-C22A-19BCE434FBAE}"/>
              </a:ext>
            </a:extLst>
          </p:cNvPr>
          <p:cNvSpPr/>
          <p:nvPr/>
        </p:nvSpPr>
        <p:spPr>
          <a:xfrm>
            <a:off x="755279" y="-53115"/>
            <a:ext cx="7790174" cy="1375982"/>
          </a:xfrm>
          <a:prstGeom prst="cloud">
            <a:avLst/>
          </a:prstGeom>
          <a:solidFill>
            <a:srgbClr val="CCEC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are the main system components of a Transformer network?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0FA051-B90C-7DE8-34E0-9A9B6A189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45" y="175026"/>
            <a:ext cx="424134" cy="919700"/>
          </a:xfrm>
          <a:prstGeom prst="rect">
            <a:avLst/>
          </a:prstGeom>
        </p:spPr>
      </p:pic>
      <p:sp>
        <p:nvSpPr>
          <p:cNvPr id="4" name="Cloud 3">
            <a:extLst>
              <a:ext uri="{FF2B5EF4-FFF2-40B4-BE49-F238E27FC236}">
                <a16:creationId xmlns:a16="http://schemas.microsoft.com/office/drawing/2014/main" id="{2A1781FB-8049-D825-C368-076ABA900B38}"/>
              </a:ext>
            </a:extLst>
          </p:cNvPr>
          <p:cNvSpPr/>
          <p:nvPr/>
        </p:nvSpPr>
        <p:spPr>
          <a:xfrm>
            <a:off x="128190" y="1551008"/>
            <a:ext cx="5645723" cy="3221713"/>
          </a:xfrm>
          <a:prstGeom prst="cloud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Transformer network architecture is inherently complex, however, a Transformer can be described in terms of </a:t>
            </a: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main components: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Encoder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process the 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transfer the processed information to the Decoder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Decoder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process the data from the Encoder to yield final 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604020202020204" pitchFamily="34" charset="0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765B6C-0BBC-F6AF-0514-21D6DD196FE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45" y="4248685"/>
            <a:ext cx="675972" cy="8071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D39064D-3550-E586-AB9A-6D284BBDC524}"/>
              </a:ext>
            </a:extLst>
          </p:cNvPr>
          <p:cNvSpPr/>
          <p:nvPr/>
        </p:nvSpPr>
        <p:spPr>
          <a:xfrm>
            <a:off x="5976868" y="2027742"/>
            <a:ext cx="5733684" cy="3404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A208D9-E574-EBC5-974F-3AE852582570}"/>
              </a:ext>
            </a:extLst>
          </p:cNvPr>
          <p:cNvSpPr/>
          <p:nvPr/>
        </p:nvSpPr>
        <p:spPr>
          <a:xfrm>
            <a:off x="6752404" y="2389458"/>
            <a:ext cx="1518188" cy="276589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Encoder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200411-83D2-7148-F511-2444E2355B22}"/>
              </a:ext>
            </a:extLst>
          </p:cNvPr>
          <p:cNvSpPr txBox="1"/>
          <p:nvPr/>
        </p:nvSpPr>
        <p:spPr>
          <a:xfrm>
            <a:off x="7039256" y="5477711"/>
            <a:ext cx="4078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Fairwater Script" panose="020F0502020204030204" pitchFamily="2" charset="0"/>
                <a:ea typeface="+mn-ea"/>
                <a:cs typeface="+mn-cs"/>
              </a:rPr>
              <a:t>Transformer Network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E1F98B5-D31C-C171-8281-2ED5DE263A00}"/>
              </a:ext>
            </a:extLst>
          </p:cNvPr>
          <p:cNvSpPr/>
          <p:nvPr/>
        </p:nvSpPr>
        <p:spPr>
          <a:xfrm>
            <a:off x="9393246" y="2269077"/>
            <a:ext cx="1399033" cy="288627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Decoder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E75F58C-8CF9-AAB4-B83F-64B1ED5EB3C4}"/>
              </a:ext>
            </a:extLst>
          </p:cNvPr>
          <p:cNvSpPr/>
          <p:nvPr/>
        </p:nvSpPr>
        <p:spPr>
          <a:xfrm>
            <a:off x="8304045" y="3644207"/>
            <a:ext cx="1089201" cy="188391"/>
          </a:xfrm>
          <a:prstGeom prst="rightArrow">
            <a:avLst/>
          </a:prstGeom>
          <a:solidFill>
            <a:srgbClr val="FFF2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2B851538-A220-E404-B307-DBDCEBFA5308}"/>
              </a:ext>
            </a:extLst>
          </p:cNvPr>
          <p:cNvSpPr/>
          <p:nvPr/>
        </p:nvSpPr>
        <p:spPr>
          <a:xfrm>
            <a:off x="10818752" y="3644738"/>
            <a:ext cx="1175918" cy="224164"/>
          </a:xfrm>
          <a:prstGeom prst="rightArrow">
            <a:avLst/>
          </a:prstGeom>
          <a:solidFill>
            <a:srgbClr val="CCFF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91AED72-D585-30E6-5B16-B8C3F2654AB1}"/>
              </a:ext>
            </a:extLst>
          </p:cNvPr>
          <p:cNvSpPr/>
          <p:nvPr/>
        </p:nvSpPr>
        <p:spPr>
          <a:xfrm>
            <a:off x="5686966" y="3635907"/>
            <a:ext cx="1089201" cy="188391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DE25CB-13F3-1268-C0D1-8E38FC14AA9B}"/>
              </a:ext>
            </a:extLst>
          </p:cNvPr>
          <p:cNvSpPr txBox="1"/>
          <p:nvPr/>
        </p:nvSpPr>
        <p:spPr>
          <a:xfrm>
            <a:off x="10848221" y="3289214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Final </a:t>
            </a:r>
            <a:r>
              <a:rPr lang="en-US" dirty="0">
                <a:solidFill>
                  <a:prstClr val="white"/>
                </a:solidFill>
                <a:latin typeface="Calibri" panose="020F0502020204030204"/>
              </a:rPr>
              <a:t>Output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C5938A-1A1E-3D56-824C-0D4DC7C83AD2}"/>
              </a:ext>
            </a:extLst>
          </p:cNvPr>
          <p:cNvSpPr txBox="1"/>
          <p:nvPr/>
        </p:nvSpPr>
        <p:spPr>
          <a:xfrm>
            <a:off x="5819218" y="336077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</a:t>
            </a:r>
          </a:p>
        </p:txBody>
      </p:sp>
    </p:spTree>
    <p:extLst>
      <p:ext uri="{BB962C8B-B14F-4D97-AF65-F5344CB8AC3E}">
        <p14:creationId xmlns:p14="http://schemas.microsoft.com/office/powerpoint/2010/main" val="284789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/>
      <p:bldP spid="12" grpId="0" animBg="1"/>
      <p:bldP spid="13" grpId="0" animBg="1"/>
      <p:bldP spid="14" grpId="0" animBg="1"/>
      <p:bldP spid="15" grpId="0" animBg="1"/>
      <p:bldP spid="16" grpId="0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F11723-7B04-46DD-2D4D-F9E918B925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22" y="4082178"/>
            <a:ext cx="856218" cy="1022436"/>
          </a:xfrm>
          <a:prstGeom prst="rect">
            <a:avLst/>
          </a:prstGeom>
        </p:spPr>
      </p:pic>
      <p:sp>
        <p:nvSpPr>
          <p:cNvPr id="2" name="Cloud 1">
            <a:extLst>
              <a:ext uri="{FF2B5EF4-FFF2-40B4-BE49-F238E27FC236}">
                <a16:creationId xmlns:a16="http://schemas.microsoft.com/office/drawing/2014/main" id="{F120ECC5-8701-40E1-D813-A868A7BA0E24}"/>
              </a:ext>
            </a:extLst>
          </p:cNvPr>
          <p:cNvSpPr/>
          <p:nvPr/>
        </p:nvSpPr>
        <p:spPr>
          <a:xfrm>
            <a:off x="1256329" y="1249769"/>
            <a:ext cx="10793710" cy="5226188"/>
          </a:xfrm>
          <a:prstGeom prst="cloud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Transformer Network has the following structural and operational features: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Encoder – Decoder architecture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Encoder and Decoder components working in tandem to process input data and generate final output 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b="1" i="1" kern="0" dirty="0">
                <a:solidFill>
                  <a:srgbClr val="00B0F0"/>
                </a:solidFill>
              </a:rPr>
              <a:t>Attention Mechanism</a:t>
            </a:r>
            <a:r>
              <a:rPr lang="en-US" sz="2400" kern="0" dirty="0">
                <a:solidFill>
                  <a:prstClr val="black"/>
                </a:solidFill>
              </a:rPr>
              <a:t>: Focusing on relevant parts of the input sequence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CBE2D4-3E09-B54C-670B-2E42E5B318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01" y="468323"/>
            <a:ext cx="420660" cy="920576"/>
          </a:xfrm>
          <a:prstGeom prst="rect">
            <a:avLst/>
          </a:prstGeom>
        </p:spPr>
      </p:pic>
      <p:sp>
        <p:nvSpPr>
          <p:cNvPr id="5" name="Cloud 4">
            <a:extLst>
              <a:ext uri="{FF2B5EF4-FFF2-40B4-BE49-F238E27FC236}">
                <a16:creationId xmlns:a16="http://schemas.microsoft.com/office/drawing/2014/main" id="{F92A43B9-D218-3306-0F09-D99505E5D992}"/>
              </a:ext>
            </a:extLst>
          </p:cNvPr>
          <p:cNvSpPr/>
          <p:nvPr/>
        </p:nvSpPr>
        <p:spPr>
          <a:xfrm>
            <a:off x="947161" y="21593"/>
            <a:ext cx="7045175" cy="1399217"/>
          </a:xfrm>
          <a:prstGeom prst="cloud">
            <a:avLst/>
          </a:prstGeom>
          <a:solidFill>
            <a:srgbClr val="CCE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are the major operational features of a </a:t>
            </a: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ransformer </a:t>
            </a: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etwork?</a:t>
            </a:r>
          </a:p>
        </p:txBody>
      </p:sp>
    </p:spTree>
    <p:extLst>
      <p:ext uri="{BB962C8B-B14F-4D97-AF65-F5344CB8AC3E}">
        <p14:creationId xmlns:p14="http://schemas.microsoft.com/office/powerpoint/2010/main" val="232175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 3">
            <a:extLst>
              <a:ext uri="{FF2B5EF4-FFF2-40B4-BE49-F238E27FC236}">
                <a16:creationId xmlns:a16="http://schemas.microsoft.com/office/drawing/2014/main" id="{5C6992F3-1D98-2A86-EDA3-ECF50F505028}"/>
              </a:ext>
            </a:extLst>
          </p:cNvPr>
          <p:cNvSpPr/>
          <p:nvPr/>
        </p:nvSpPr>
        <p:spPr>
          <a:xfrm>
            <a:off x="1198622" y="850233"/>
            <a:ext cx="10431904" cy="5700294"/>
          </a:xfrm>
          <a:prstGeom prst="cloud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kern="0" dirty="0">
                <a:solidFill>
                  <a:srgbClr val="161616"/>
                </a:solidFill>
                <a:latin typeface="Calibri" panose="020F0502020204030204"/>
              </a:rPr>
              <a:t>Preparation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the input is necessary for a transformer network 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000" kern="0" dirty="0">
                <a:solidFill>
                  <a:srgbClr val="161616"/>
                </a:solidFill>
                <a:latin typeface="Calibri" panose="020F0502020204030204"/>
              </a:rPr>
              <a:t>I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 changes the input into a numerical format that the network can understand 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000" kern="0" dirty="0">
                <a:solidFill>
                  <a:srgbClr val="161616"/>
                </a:solidFill>
                <a:latin typeface="Calibri" panose="020F0502020204030204"/>
              </a:rPr>
              <a:t>It captures the semantic relationship of the input data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captures the ordering of the input data structure the data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input processing is inadequate, the model may fail to understand the data and yields erroneous results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B13D3C-4CC7-2141-DB15-915D11C51F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008" y="4877959"/>
            <a:ext cx="770184" cy="919700"/>
          </a:xfrm>
          <a:prstGeom prst="rect">
            <a:avLst/>
          </a:prstGeom>
        </p:spPr>
      </p:pic>
      <p:sp>
        <p:nvSpPr>
          <p:cNvPr id="2" name="Cloud 1">
            <a:extLst>
              <a:ext uri="{FF2B5EF4-FFF2-40B4-BE49-F238E27FC236}">
                <a16:creationId xmlns:a16="http://schemas.microsoft.com/office/drawing/2014/main" id="{84AFF9D2-200F-C580-7CA0-D3726EDDAEFE}"/>
              </a:ext>
            </a:extLst>
          </p:cNvPr>
          <p:cNvSpPr/>
          <p:nvPr/>
        </p:nvSpPr>
        <p:spPr>
          <a:xfrm>
            <a:off x="736831" y="151884"/>
            <a:ext cx="5963422" cy="1136832"/>
          </a:xfrm>
          <a:prstGeom prst="cloud">
            <a:avLst/>
          </a:prstGeom>
          <a:solidFill>
            <a:srgbClr val="CCE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is it necessary to prepare the input data before feeding into the transformer network?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56ED11-9D5E-9F12-20EF-3E880C795E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364" y="190260"/>
            <a:ext cx="420660" cy="9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323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9BD2C0-1370-45DB-42F1-6367EF6D5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 3">
            <a:extLst>
              <a:ext uri="{FF2B5EF4-FFF2-40B4-BE49-F238E27FC236}">
                <a16:creationId xmlns:a16="http://schemas.microsoft.com/office/drawing/2014/main" id="{C58D1DAC-AA98-5FE7-76E8-FFDDBC426E8F}"/>
              </a:ext>
            </a:extLst>
          </p:cNvPr>
          <p:cNvSpPr/>
          <p:nvPr/>
        </p:nvSpPr>
        <p:spPr>
          <a:xfrm>
            <a:off x="1166537" y="1247499"/>
            <a:ext cx="10517462" cy="4238901"/>
          </a:xfrm>
          <a:prstGeom prst="cloud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 are two steps in input data processing: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Embedding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Positional Encoding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8AA48A-7418-69EE-DEF5-951D478EE7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03" y="4605243"/>
            <a:ext cx="770184" cy="919700"/>
          </a:xfrm>
          <a:prstGeom prst="rect">
            <a:avLst/>
          </a:prstGeom>
        </p:spPr>
      </p:pic>
      <p:sp>
        <p:nvSpPr>
          <p:cNvPr id="2" name="Cloud 1">
            <a:extLst>
              <a:ext uri="{FF2B5EF4-FFF2-40B4-BE49-F238E27FC236}">
                <a16:creationId xmlns:a16="http://schemas.microsoft.com/office/drawing/2014/main" id="{F2274378-9952-15BD-295B-EECB28D2BA08}"/>
              </a:ext>
            </a:extLst>
          </p:cNvPr>
          <p:cNvSpPr/>
          <p:nvPr/>
        </p:nvSpPr>
        <p:spPr>
          <a:xfrm>
            <a:off x="736831" y="151884"/>
            <a:ext cx="5845780" cy="919700"/>
          </a:xfrm>
          <a:prstGeom prst="cloud">
            <a:avLst/>
          </a:prstGeom>
          <a:solidFill>
            <a:srgbClr val="CCE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are the TWO critical steps in input data preparation?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2B7811-861A-AC60-4907-9F89015F36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364" y="190260"/>
            <a:ext cx="420660" cy="9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379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B9228E-A5BD-04AD-07F2-407802C31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>
            <a:extLst>
              <a:ext uri="{FF2B5EF4-FFF2-40B4-BE49-F238E27FC236}">
                <a16:creationId xmlns:a16="http://schemas.microsoft.com/office/drawing/2014/main" id="{8A680075-B5C2-1681-2CDE-ED812A8DE8EE}"/>
              </a:ext>
            </a:extLst>
          </p:cNvPr>
          <p:cNvSpPr/>
          <p:nvPr/>
        </p:nvSpPr>
        <p:spPr>
          <a:xfrm>
            <a:off x="856115" y="175026"/>
            <a:ext cx="5801163" cy="919700"/>
          </a:xfrm>
          <a:prstGeom prst="cloud">
            <a:avLst/>
          </a:prstGeom>
          <a:solidFill>
            <a:srgbClr val="CCEC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explain Embedding and Positional Encoding further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442AEF-83C3-47EC-7F63-A1F2BB6C3F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23" y="315654"/>
            <a:ext cx="424134" cy="919700"/>
          </a:xfrm>
          <a:prstGeom prst="rect">
            <a:avLst/>
          </a:prstGeom>
        </p:spPr>
      </p:pic>
      <p:sp>
        <p:nvSpPr>
          <p:cNvPr id="4" name="Cloud 3">
            <a:extLst>
              <a:ext uri="{FF2B5EF4-FFF2-40B4-BE49-F238E27FC236}">
                <a16:creationId xmlns:a16="http://schemas.microsoft.com/office/drawing/2014/main" id="{960944FC-FE1D-F6E5-B697-F4D80587BCFC}"/>
              </a:ext>
            </a:extLst>
          </p:cNvPr>
          <p:cNvSpPr/>
          <p:nvPr/>
        </p:nvSpPr>
        <p:spPr>
          <a:xfrm>
            <a:off x="856115" y="737420"/>
            <a:ext cx="10995562" cy="5945556"/>
          </a:xfrm>
          <a:prstGeom prst="cloud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Embedding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Raw text or image data are not directly useful for deep learning models. Embedding converts the raw data into high-dimensional numerical representations call </a:t>
            </a: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tokens </a:t>
            </a:r>
            <a:r>
              <a:rPr kumimoji="0" lang="en-US" sz="24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called</a:t>
            </a: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TOKENIZATION </a:t>
            </a:r>
            <a:endParaRPr lang="en-US" sz="2400" kern="0" dirty="0">
              <a:solidFill>
                <a:srgbClr val="161616"/>
              </a:solidFill>
              <a:latin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2400" b="0" i="0" u="none" strike="noStrike" kern="0" cap="none" spc="0" normalizeH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token is the fundamental unit of data that the model processes.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Positional Encoding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Transformers do not inherently understand sequence order of a text string or relationship of pixels in image data. Positional encodings allows to the transformer to  preserve relationship among the data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803AFD-4096-BAEC-EC53-D915D39E55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17" y="4200408"/>
            <a:ext cx="770184" cy="9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55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DDE97E-D303-66B8-8F4F-687542DD0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>
            <a:extLst>
              <a:ext uri="{FF2B5EF4-FFF2-40B4-BE49-F238E27FC236}">
                <a16:creationId xmlns:a16="http://schemas.microsoft.com/office/drawing/2014/main" id="{D48F3505-E823-9437-FA35-5AC2DA023319}"/>
              </a:ext>
            </a:extLst>
          </p:cNvPr>
          <p:cNvSpPr/>
          <p:nvPr/>
        </p:nvSpPr>
        <p:spPr>
          <a:xfrm>
            <a:off x="856115" y="175025"/>
            <a:ext cx="6960530" cy="1673440"/>
          </a:xfrm>
          <a:prstGeom prst="cloud">
            <a:avLst/>
          </a:prstGeom>
          <a:solidFill>
            <a:srgbClr val="CCEC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show an example on input data processing and applying Attention mechanism to the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458DFC-B76A-490E-AAF3-897064F8C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23" y="315654"/>
            <a:ext cx="424134" cy="919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6CFA17-E7C6-C6F1-02A1-4A2EF5A091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482" y="5330631"/>
            <a:ext cx="770184" cy="919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12691D-3BE8-9FB0-910F-8906B53DA52A}"/>
              </a:ext>
            </a:extLst>
          </p:cNvPr>
          <p:cNvSpPr txBox="1"/>
          <p:nvPr/>
        </p:nvSpPr>
        <p:spPr>
          <a:xfrm>
            <a:off x="1283448" y="2400015"/>
            <a:ext cx="94579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“Stroke 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be caused by atherosclerotic disease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63C04D98-9D7E-2752-523D-D7D78E851EBC}"/>
              </a:ext>
            </a:extLst>
          </p:cNvPr>
          <p:cNvSpPr/>
          <p:nvPr/>
        </p:nvSpPr>
        <p:spPr>
          <a:xfrm>
            <a:off x="2277302" y="3255264"/>
            <a:ext cx="7470202" cy="2786149"/>
          </a:xfrm>
          <a:prstGeom prst="cloud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Sure thing!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can use an example above to show how a Transformer prepares the input data</a:t>
            </a:r>
          </a:p>
        </p:txBody>
      </p:sp>
    </p:spTree>
    <p:extLst>
      <p:ext uri="{BB962C8B-B14F-4D97-AF65-F5344CB8AC3E}">
        <p14:creationId xmlns:p14="http://schemas.microsoft.com/office/powerpoint/2010/main" val="131844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85AA9-A6FE-AC3E-425C-3BBC6658F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E382A4-86FA-C636-F87B-BA84586B5D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833" y="5823496"/>
            <a:ext cx="770184" cy="919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39AFC5-155E-B5D1-8A0A-89451451C8C7}"/>
              </a:ext>
            </a:extLst>
          </p:cNvPr>
          <p:cNvSpPr txBox="1"/>
          <p:nvPr/>
        </p:nvSpPr>
        <p:spPr>
          <a:xfrm>
            <a:off x="1705343" y="336625"/>
            <a:ext cx="9069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Stroke can be caused by atherosclerotic disease</a:t>
            </a: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B5AA3816-9755-821E-846C-12D30981F01D}"/>
              </a:ext>
            </a:extLst>
          </p:cNvPr>
          <p:cNvSpPr/>
          <p:nvPr/>
        </p:nvSpPr>
        <p:spPr>
          <a:xfrm>
            <a:off x="2527501" y="4041316"/>
            <a:ext cx="7608275" cy="2433888"/>
          </a:xfrm>
          <a:prstGeom prst="cloud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EMBEDDING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technique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Dividing a sentence into constituent  words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Creating a token for each word by assigning a numerical presentation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token (also call vector) now has specific numerical value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16616C58-8938-DE54-1EBD-23B2BB1AB7C7}"/>
              </a:ext>
            </a:extLst>
          </p:cNvPr>
          <p:cNvSpPr/>
          <p:nvPr/>
        </p:nvSpPr>
        <p:spPr>
          <a:xfrm>
            <a:off x="2641532" y="1069158"/>
            <a:ext cx="156118" cy="825191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94FF7FE8-427E-5927-31C3-E34823D4DCBF}"/>
              </a:ext>
            </a:extLst>
          </p:cNvPr>
          <p:cNvSpPr/>
          <p:nvPr/>
        </p:nvSpPr>
        <p:spPr>
          <a:xfrm>
            <a:off x="3277398" y="1054102"/>
            <a:ext cx="156118" cy="825191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D2E1B123-F8FA-EEF4-892D-0B28391A6B07}"/>
              </a:ext>
            </a:extLst>
          </p:cNvPr>
          <p:cNvSpPr/>
          <p:nvPr/>
        </p:nvSpPr>
        <p:spPr>
          <a:xfrm>
            <a:off x="4000116" y="1061387"/>
            <a:ext cx="156118" cy="825191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211CABF2-362D-C516-F3EB-E7A07AB577FA}"/>
              </a:ext>
            </a:extLst>
          </p:cNvPr>
          <p:cNvSpPr/>
          <p:nvPr/>
        </p:nvSpPr>
        <p:spPr>
          <a:xfrm>
            <a:off x="4988159" y="1052623"/>
            <a:ext cx="156118" cy="825191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6385E98-2053-2E96-1818-CAA0978423D9}"/>
              </a:ext>
            </a:extLst>
          </p:cNvPr>
          <p:cNvSpPr/>
          <p:nvPr/>
        </p:nvSpPr>
        <p:spPr>
          <a:xfrm>
            <a:off x="6068648" y="1048212"/>
            <a:ext cx="156118" cy="825191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8621FFE6-4165-3F12-EB19-2DAADE6851CC}"/>
              </a:ext>
            </a:extLst>
          </p:cNvPr>
          <p:cNvSpPr/>
          <p:nvPr/>
        </p:nvSpPr>
        <p:spPr>
          <a:xfrm>
            <a:off x="7640326" y="1048211"/>
            <a:ext cx="156118" cy="825191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51B43F-78DC-A259-28A7-FA9A6D1F89F3}"/>
              </a:ext>
            </a:extLst>
          </p:cNvPr>
          <p:cNvSpPr/>
          <p:nvPr/>
        </p:nvSpPr>
        <p:spPr>
          <a:xfrm>
            <a:off x="2626110" y="1895712"/>
            <a:ext cx="186963" cy="1248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001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418ED3-7293-0C4C-B5D1-5C94F94595E5}"/>
              </a:ext>
            </a:extLst>
          </p:cNvPr>
          <p:cNvSpPr/>
          <p:nvPr/>
        </p:nvSpPr>
        <p:spPr>
          <a:xfrm>
            <a:off x="3240272" y="1942204"/>
            <a:ext cx="186963" cy="1248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D2BA7A-A5B2-D42C-4EB8-3CB3D0397449}"/>
              </a:ext>
            </a:extLst>
          </p:cNvPr>
          <p:cNvSpPr/>
          <p:nvPr/>
        </p:nvSpPr>
        <p:spPr>
          <a:xfrm>
            <a:off x="3995010" y="1931838"/>
            <a:ext cx="186963" cy="1248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854B83-C1A0-3678-DEF0-8ABDE9FFE53C}"/>
              </a:ext>
            </a:extLst>
          </p:cNvPr>
          <p:cNvSpPr/>
          <p:nvPr/>
        </p:nvSpPr>
        <p:spPr>
          <a:xfrm>
            <a:off x="4952518" y="1940725"/>
            <a:ext cx="186963" cy="1248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9BA0D5-B907-3F85-53BA-CF74C6FFDB4F}"/>
              </a:ext>
            </a:extLst>
          </p:cNvPr>
          <p:cNvSpPr/>
          <p:nvPr/>
        </p:nvSpPr>
        <p:spPr>
          <a:xfrm>
            <a:off x="6053372" y="1967219"/>
            <a:ext cx="186963" cy="1248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5AA23F-96ED-7730-0C60-86E81CFF0C39}"/>
              </a:ext>
            </a:extLst>
          </p:cNvPr>
          <p:cNvSpPr/>
          <p:nvPr/>
        </p:nvSpPr>
        <p:spPr>
          <a:xfrm>
            <a:off x="7624903" y="1938657"/>
            <a:ext cx="186963" cy="1248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006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FD9156-9330-8605-4726-860641B2C2E3}"/>
              </a:ext>
            </a:extLst>
          </p:cNvPr>
          <p:cNvSpPr txBox="1"/>
          <p:nvPr/>
        </p:nvSpPr>
        <p:spPr>
          <a:xfrm>
            <a:off x="1073766" y="2335512"/>
            <a:ext cx="139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EMBEDDING</a:t>
            </a: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2023A20E-CF2F-17A5-6EE3-C6405B54DCC8}"/>
              </a:ext>
            </a:extLst>
          </p:cNvPr>
          <p:cNvSpPr/>
          <p:nvPr/>
        </p:nvSpPr>
        <p:spPr>
          <a:xfrm rot="5400000">
            <a:off x="6152976" y="-127051"/>
            <a:ext cx="448021" cy="7440062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rgbClr val="FFF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5931EE-0C3E-A586-291B-C1F3562DD7AC}"/>
              </a:ext>
            </a:extLst>
          </p:cNvPr>
          <p:cNvSpPr txBox="1"/>
          <p:nvPr/>
        </p:nvSpPr>
        <p:spPr>
          <a:xfrm>
            <a:off x="5858991" y="3738283"/>
            <a:ext cx="1035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VECTORS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DEDA82-5094-010C-1C40-46C8DC14A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311" y="461807"/>
            <a:ext cx="1287605" cy="49685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FA91E15-8CCB-3960-5AA8-84FEB28FF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005" y="483252"/>
            <a:ext cx="2854102" cy="42675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8856670-259B-D875-9189-015A76FBB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558" y="496855"/>
            <a:ext cx="469714" cy="42675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9FA55E6-3F92-36B8-7452-9965F26A8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6045" y="482601"/>
            <a:ext cx="1332642" cy="4267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B01A616-9347-8104-450D-35E6356ED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7433" y="458707"/>
            <a:ext cx="667336" cy="47644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1A47FCA-F324-4420-A95A-05A049D0EC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2819" y="1052623"/>
            <a:ext cx="188992" cy="841321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FDF719B9-7154-81CA-6809-5616C0A2F637}"/>
              </a:ext>
            </a:extLst>
          </p:cNvPr>
          <p:cNvSpPr/>
          <p:nvPr/>
        </p:nvSpPr>
        <p:spPr>
          <a:xfrm>
            <a:off x="9937787" y="1938657"/>
            <a:ext cx="186963" cy="1248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908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ADCD0CA-1BD6-B283-2235-72488A43C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3219" y="483252"/>
            <a:ext cx="520650" cy="42675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1684DFB-F268-3FFB-7647-812FCF4D2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6425" y="482601"/>
            <a:ext cx="1464128" cy="42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7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0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/>
      <p:bldP spid="2" grpId="0" animBg="1"/>
      <p:bldP spid="3" grpId="0"/>
      <p:bldP spid="3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A3872C-E4C3-D239-641A-C676A685E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D43D7F-6BAD-6708-2C4F-078A3EC767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07" y="5338349"/>
            <a:ext cx="770184" cy="919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695289-5B02-85CF-866E-5CE8F67BA1EA}"/>
              </a:ext>
            </a:extLst>
          </p:cNvPr>
          <p:cNvSpPr txBox="1"/>
          <p:nvPr/>
        </p:nvSpPr>
        <p:spPr>
          <a:xfrm>
            <a:off x="1705343" y="336625"/>
            <a:ext cx="9069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Stroke can be caused by atherosclerotic disease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64721197-B220-B520-793B-001FEFE97EA3}"/>
              </a:ext>
            </a:extLst>
          </p:cNvPr>
          <p:cNvSpPr/>
          <p:nvPr/>
        </p:nvSpPr>
        <p:spPr>
          <a:xfrm>
            <a:off x="2641532" y="1069158"/>
            <a:ext cx="156118" cy="825191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192CE496-5A97-F1C1-8815-54C8B20B640B}"/>
              </a:ext>
            </a:extLst>
          </p:cNvPr>
          <p:cNvSpPr/>
          <p:nvPr/>
        </p:nvSpPr>
        <p:spPr>
          <a:xfrm>
            <a:off x="3277398" y="1054102"/>
            <a:ext cx="156118" cy="825191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5A0388A1-F757-0C06-D8B3-3EFE793AECCB}"/>
              </a:ext>
            </a:extLst>
          </p:cNvPr>
          <p:cNvSpPr/>
          <p:nvPr/>
        </p:nvSpPr>
        <p:spPr>
          <a:xfrm>
            <a:off x="4000116" y="1061387"/>
            <a:ext cx="156118" cy="825191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697D1F5B-F0D8-116B-BCBF-A0D18C46E4A9}"/>
              </a:ext>
            </a:extLst>
          </p:cNvPr>
          <p:cNvSpPr/>
          <p:nvPr/>
        </p:nvSpPr>
        <p:spPr>
          <a:xfrm>
            <a:off x="4988159" y="1052623"/>
            <a:ext cx="156118" cy="825191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1727324C-8991-AFBB-96A4-6822E47D5D2F}"/>
              </a:ext>
            </a:extLst>
          </p:cNvPr>
          <p:cNvSpPr/>
          <p:nvPr/>
        </p:nvSpPr>
        <p:spPr>
          <a:xfrm>
            <a:off x="6068648" y="1048212"/>
            <a:ext cx="156118" cy="825191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3AD6B3C3-DCF0-48A0-E756-70D1213901F6}"/>
              </a:ext>
            </a:extLst>
          </p:cNvPr>
          <p:cNvSpPr/>
          <p:nvPr/>
        </p:nvSpPr>
        <p:spPr>
          <a:xfrm>
            <a:off x="7640326" y="1048211"/>
            <a:ext cx="156118" cy="825191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991C55-4955-F292-260B-089BA8F67E74}"/>
              </a:ext>
            </a:extLst>
          </p:cNvPr>
          <p:cNvSpPr/>
          <p:nvPr/>
        </p:nvSpPr>
        <p:spPr>
          <a:xfrm>
            <a:off x="2626110" y="1895712"/>
            <a:ext cx="186963" cy="1248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001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3ADF4D-4396-0550-FF31-2028126913A9}"/>
              </a:ext>
            </a:extLst>
          </p:cNvPr>
          <p:cNvSpPr/>
          <p:nvPr/>
        </p:nvSpPr>
        <p:spPr>
          <a:xfrm>
            <a:off x="3240272" y="1942204"/>
            <a:ext cx="186963" cy="1248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4EF400-A419-2990-3AB5-8E2D361B99F9}"/>
              </a:ext>
            </a:extLst>
          </p:cNvPr>
          <p:cNvSpPr/>
          <p:nvPr/>
        </p:nvSpPr>
        <p:spPr>
          <a:xfrm>
            <a:off x="3995010" y="1931838"/>
            <a:ext cx="186963" cy="1248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A23A9F-2882-36DE-D876-C3D2B673D157}"/>
              </a:ext>
            </a:extLst>
          </p:cNvPr>
          <p:cNvSpPr/>
          <p:nvPr/>
        </p:nvSpPr>
        <p:spPr>
          <a:xfrm>
            <a:off x="4952518" y="1940725"/>
            <a:ext cx="186963" cy="1248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F8BB63-D26A-23D8-357C-FD7071B3E756}"/>
              </a:ext>
            </a:extLst>
          </p:cNvPr>
          <p:cNvSpPr/>
          <p:nvPr/>
        </p:nvSpPr>
        <p:spPr>
          <a:xfrm>
            <a:off x="6053372" y="1967219"/>
            <a:ext cx="186963" cy="1248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95EE48-9C3E-1F22-64E2-3E274738E574}"/>
              </a:ext>
            </a:extLst>
          </p:cNvPr>
          <p:cNvSpPr/>
          <p:nvPr/>
        </p:nvSpPr>
        <p:spPr>
          <a:xfrm>
            <a:off x="7624903" y="1938657"/>
            <a:ext cx="186963" cy="1248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006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F728E4-5D09-1096-09EC-BA42E83A4541}"/>
              </a:ext>
            </a:extLst>
          </p:cNvPr>
          <p:cNvSpPr txBox="1"/>
          <p:nvPr/>
        </p:nvSpPr>
        <p:spPr>
          <a:xfrm>
            <a:off x="1073766" y="2335512"/>
            <a:ext cx="139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EMBEDDING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AFE80C5-1D7A-DA07-1FEB-82298E2A7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311" y="461807"/>
            <a:ext cx="1287605" cy="49685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602B75F-7E04-AC36-60FC-1C832F352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005" y="483252"/>
            <a:ext cx="2854102" cy="42675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9DEE11B-9D4F-C877-213A-601415F09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558" y="496855"/>
            <a:ext cx="469714" cy="42675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D3002FA-A38A-62AD-CCB8-D5BCF2F27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6045" y="482601"/>
            <a:ext cx="1332642" cy="4267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9AA8BBB-78C0-3E79-EEC5-B8C180F11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7433" y="458707"/>
            <a:ext cx="667336" cy="47644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EF0CC31-DD2A-E811-DC6C-F59AA84B5A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2819" y="1052623"/>
            <a:ext cx="188992" cy="841321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DB79E96-0F7E-1BDD-541D-FE84037C1DF0}"/>
              </a:ext>
            </a:extLst>
          </p:cNvPr>
          <p:cNvSpPr/>
          <p:nvPr/>
        </p:nvSpPr>
        <p:spPr>
          <a:xfrm>
            <a:off x="9937787" y="1938657"/>
            <a:ext cx="186963" cy="1248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908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1354AF7-4B72-B3E6-E3E9-71734C87C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3219" y="483252"/>
            <a:ext cx="520650" cy="42675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004EC59-A3FA-2213-9057-F5BD7A72E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6425" y="482601"/>
            <a:ext cx="1464128" cy="426758"/>
          </a:xfrm>
          <a:prstGeom prst="rect">
            <a:avLst/>
          </a:prstGeom>
        </p:spPr>
      </p:pic>
      <p:sp>
        <p:nvSpPr>
          <p:cNvPr id="13" name="Flowchart: Summing Junction 12">
            <a:extLst>
              <a:ext uri="{FF2B5EF4-FFF2-40B4-BE49-F238E27FC236}">
                <a16:creationId xmlns:a16="http://schemas.microsoft.com/office/drawing/2014/main" id="{88C3273E-5343-27A5-09F0-FD2A349177EC}"/>
              </a:ext>
            </a:extLst>
          </p:cNvPr>
          <p:cNvSpPr/>
          <p:nvPr/>
        </p:nvSpPr>
        <p:spPr>
          <a:xfrm>
            <a:off x="2441867" y="3414128"/>
            <a:ext cx="430175" cy="457201"/>
          </a:xfrm>
          <a:prstGeom prst="flowChartSummingJunctio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15" name="Flowchart: Summing Junction 14">
            <a:extLst>
              <a:ext uri="{FF2B5EF4-FFF2-40B4-BE49-F238E27FC236}">
                <a16:creationId xmlns:a16="http://schemas.microsoft.com/office/drawing/2014/main" id="{F8E0DC43-EFB2-1629-6610-E147DBA7AB21}"/>
              </a:ext>
            </a:extLst>
          </p:cNvPr>
          <p:cNvSpPr/>
          <p:nvPr/>
        </p:nvSpPr>
        <p:spPr>
          <a:xfrm>
            <a:off x="3107433" y="3414295"/>
            <a:ext cx="430175" cy="457201"/>
          </a:xfrm>
          <a:prstGeom prst="flowChartSummingJunctio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2" name="Flowchart: Summing Junction 21">
            <a:extLst>
              <a:ext uri="{FF2B5EF4-FFF2-40B4-BE49-F238E27FC236}">
                <a16:creationId xmlns:a16="http://schemas.microsoft.com/office/drawing/2014/main" id="{2C595D3A-779F-C3E7-F61A-F97A1679ACE1}"/>
              </a:ext>
            </a:extLst>
          </p:cNvPr>
          <p:cNvSpPr/>
          <p:nvPr/>
        </p:nvSpPr>
        <p:spPr>
          <a:xfrm>
            <a:off x="3861097" y="3399423"/>
            <a:ext cx="430175" cy="457201"/>
          </a:xfrm>
          <a:prstGeom prst="flowChartSummingJunctio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Calibri" panose="020F0502020204030204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lowchart: Summing Junction 23">
            <a:extLst>
              <a:ext uri="{FF2B5EF4-FFF2-40B4-BE49-F238E27FC236}">
                <a16:creationId xmlns:a16="http://schemas.microsoft.com/office/drawing/2014/main" id="{A1F6C985-0D29-9274-8EFF-1BA24A7E3407}"/>
              </a:ext>
            </a:extLst>
          </p:cNvPr>
          <p:cNvSpPr/>
          <p:nvPr/>
        </p:nvSpPr>
        <p:spPr>
          <a:xfrm>
            <a:off x="4773071" y="3399422"/>
            <a:ext cx="430175" cy="457201"/>
          </a:xfrm>
          <a:prstGeom prst="flowChartSummingJunctio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Calibri" panose="020F0502020204030204"/>
              </a:rPr>
              <a:t>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Flowchart: Summing Junction 31">
            <a:extLst>
              <a:ext uri="{FF2B5EF4-FFF2-40B4-BE49-F238E27FC236}">
                <a16:creationId xmlns:a16="http://schemas.microsoft.com/office/drawing/2014/main" id="{1D6E7538-1337-45E6-65FF-DBD19B2D15DD}"/>
              </a:ext>
            </a:extLst>
          </p:cNvPr>
          <p:cNvSpPr/>
          <p:nvPr/>
        </p:nvSpPr>
        <p:spPr>
          <a:xfrm>
            <a:off x="5896830" y="3399421"/>
            <a:ext cx="430175" cy="457201"/>
          </a:xfrm>
          <a:prstGeom prst="flowChartSummingJunctio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Calibri" panose="020F0502020204030204"/>
              </a:rPr>
              <a:t>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lowchart: Summing Junction 32">
            <a:extLst>
              <a:ext uri="{FF2B5EF4-FFF2-40B4-BE49-F238E27FC236}">
                <a16:creationId xmlns:a16="http://schemas.microsoft.com/office/drawing/2014/main" id="{35035FD4-4D3A-5B66-2342-565699D3F5F5}"/>
              </a:ext>
            </a:extLst>
          </p:cNvPr>
          <p:cNvSpPr/>
          <p:nvPr/>
        </p:nvSpPr>
        <p:spPr>
          <a:xfrm>
            <a:off x="7470555" y="3414127"/>
            <a:ext cx="430175" cy="457201"/>
          </a:xfrm>
          <a:prstGeom prst="flowChartSummingJunctio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Calibri" panose="020F0502020204030204"/>
              </a:rPr>
              <a:t>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Flowchart: Summing Junction 33">
            <a:extLst>
              <a:ext uri="{FF2B5EF4-FFF2-40B4-BE49-F238E27FC236}">
                <a16:creationId xmlns:a16="http://schemas.microsoft.com/office/drawing/2014/main" id="{4493C891-EF55-E6B8-291F-22FF2EFA8E45}"/>
              </a:ext>
            </a:extLst>
          </p:cNvPr>
          <p:cNvSpPr/>
          <p:nvPr/>
        </p:nvSpPr>
        <p:spPr>
          <a:xfrm>
            <a:off x="9802227" y="3414127"/>
            <a:ext cx="430175" cy="457201"/>
          </a:xfrm>
          <a:prstGeom prst="flowChartSummingJunctio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Calibri" panose="020F0502020204030204"/>
              </a:rPr>
              <a:t>7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Cloud 35">
            <a:extLst>
              <a:ext uri="{FF2B5EF4-FFF2-40B4-BE49-F238E27FC236}">
                <a16:creationId xmlns:a16="http://schemas.microsoft.com/office/drawing/2014/main" id="{326AF374-7207-A868-FA99-5A326D0EA9FE}"/>
              </a:ext>
            </a:extLst>
          </p:cNvPr>
          <p:cNvSpPr/>
          <p:nvPr/>
        </p:nvSpPr>
        <p:spPr>
          <a:xfrm>
            <a:off x="2872043" y="3925436"/>
            <a:ext cx="8480420" cy="3090312"/>
          </a:xfrm>
          <a:prstGeom prst="cloud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POSITIONAL ENCODING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Assign</a:t>
            </a:r>
            <a:r>
              <a:rPr lang="en-US" sz="1600" kern="0" noProof="0" dirty="0">
                <a:solidFill>
                  <a:prstClr val="black"/>
                </a:solidFill>
                <a:latin typeface="Calibri" panose="020F0502020204030204"/>
              </a:rPr>
              <a:t>ing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a specific ordering to the input data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A numerical value is assigned to each token to indicate its position in the sentence</a:t>
            </a:r>
            <a:endParaRPr lang="en-US" sz="1600" kern="0" dirty="0">
              <a:solidFill>
                <a:prstClr val="black"/>
              </a:solidFill>
              <a:latin typeface="Calibri" panose="020F050202020403020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1600" dirty="0"/>
              <a:t>Positional encoding enables the network to distinguish between different positions and learns the relationships based on token order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7DEC50-6613-8A8C-54A3-244816DFA20C}"/>
              </a:ext>
            </a:extLst>
          </p:cNvPr>
          <p:cNvSpPr txBox="1"/>
          <p:nvPr/>
        </p:nvSpPr>
        <p:spPr>
          <a:xfrm>
            <a:off x="198103" y="3458744"/>
            <a:ext cx="2194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POSITIONAL ENCODING</a:t>
            </a:r>
          </a:p>
        </p:txBody>
      </p:sp>
    </p:spTree>
    <p:extLst>
      <p:ext uri="{BB962C8B-B14F-4D97-AF65-F5344CB8AC3E}">
        <p14:creationId xmlns:p14="http://schemas.microsoft.com/office/powerpoint/2010/main" val="363763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22" grpId="0" animBg="1"/>
      <p:bldP spid="24" grpId="0" animBg="1"/>
      <p:bldP spid="32" grpId="0" animBg="1"/>
      <p:bldP spid="33" grpId="0" animBg="1"/>
      <p:bldP spid="34" grpId="0" animBg="1"/>
      <p:bldP spid="3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27863D-6875-CB63-4366-C79C8B614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>
            <a:extLst>
              <a:ext uri="{FF2B5EF4-FFF2-40B4-BE49-F238E27FC236}">
                <a16:creationId xmlns:a16="http://schemas.microsoft.com/office/drawing/2014/main" id="{6D8C3582-3CC0-DF40-B68E-0413BC6A703B}"/>
              </a:ext>
            </a:extLst>
          </p:cNvPr>
          <p:cNvSpPr/>
          <p:nvPr/>
        </p:nvSpPr>
        <p:spPr>
          <a:xfrm>
            <a:off x="856116" y="175025"/>
            <a:ext cx="5675314" cy="1534031"/>
          </a:xfrm>
          <a:prstGeom prst="cloud">
            <a:avLst/>
          </a:prstGeom>
          <a:solidFill>
            <a:srgbClr val="CCEC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is Attention mechanism in transformer networks?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8FB5BC-1791-214D-8D5F-EE6159666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23" y="315654"/>
            <a:ext cx="424134" cy="919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FE8AE3-F87D-B454-D38F-6421CE54D6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76" y="4624951"/>
            <a:ext cx="770184" cy="9197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088F408-F594-7AEE-A055-75F4D20296A7}"/>
              </a:ext>
            </a:extLst>
          </p:cNvPr>
          <p:cNvSpPr/>
          <p:nvPr/>
        </p:nvSpPr>
        <p:spPr>
          <a:xfrm>
            <a:off x="1602892" y="2435511"/>
            <a:ext cx="9123929" cy="238246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 mechanism is a technique that allows a model to focus on the most </a:t>
            </a: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relevant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parts of an input sequence for the task at hand </a:t>
            </a:r>
          </a:p>
        </p:txBody>
      </p:sp>
    </p:spTree>
    <p:extLst>
      <p:ext uri="{BB962C8B-B14F-4D97-AF65-F5344CB8AC3E}">
        <p14:creationId xmlns:p14="http://schemas.microsoft.com/office/powerpoint/2010/main" val="32435969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CD9019-8142-8808-1872-4615AB16B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>
            <a:extLst>
              <a:ext uri="{FF2B5EF4-FFF2-40B4-BE49-F238E27FC236}">
                <a16:creationId xmlns:a16="http://schemas.microsoft.com/office/drawing/2014/main" id="{5CB72909-C41E-AF5D-E600-BFE78F08F71A}"/>
              </a:ext>
            </a:extLst>
          </p:cNvPr>
          <p:cNvSpPr/>
          <p:nvPr/>
        </p:nvSpPr>
        <p:spPr>
          <a:xfrm>
            <a:off x="656303" y="82700"/>
            <a:ext cx="5849485" cy="1060329"/>
          </a:xfrm>
          <a:prstGeom prst="cloud">
            <a:avLst/>
          </a:prstGeom>
          <a:solidFill>
            <a:srgbClr val="CCEC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illustrate an example how Attention Mechanism work</a:t>
            </a:r>
            <a:r>
              <a:rPr lang="en-US" kern="0" dirty="0">
                <a:solidFill>
                  <a:prstClr val="black"/>
                </a:solidFill>
                <a:latin typeface="Calibri" panose="020F0502020204030204"/>
              </a:rPr>
              <a:t>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4F6831-CAC0-632A-C0F1-20219DB61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69" y="175025"/>
            <a:ext cx="424134" cy="919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C96697-7F81-6AA9-09BB-0DE88A02739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49" y="5524643"/>
            <a:ext cx="770184" cy="919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99302F-76BF-F551-10A2-4881D7DCA8E1}"/>
              </a:ext>
            </a:extLst>
          </p:cNvPr>
          <p:cNvSpPr txBox="1"/>
          <p:nvPr/>
        </p:nvSpPr>
        <p:spPr>
          <a:xfrm>
            <a:off x="1344007" y="1726678"/>
            <a:ext cx="9707762" cy="664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Stroke can be caused by atherosclerotic disease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0AE82DB-BC92-1BE0-3AF9-5447CB484C87}"/>
              </a:ext>
            </a:extLst>
          </p:cNvPr>
          <p:cNvSpPr/>
          <p:nvPr/>
        </p:nvSpPr>
        <p:spPr>
          <a:xfrm>
            <a:off x="1344007" y="4135902"/>
            <a:ext cx="10362223" cy="2308441"/>
          </a:xfrm>
          <a:prstGeom prst="roundRect">
            <a:avLst/>
          </a:prstGeom>
          <a:solidFill>
            <a:srgbClr val="FFFF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can use an example to illustrate 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Attention mechanism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At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tention mechanism examines every token in the sequence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 mechanism computes and assigns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weights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(w’s) to the tokens based on their relationship among each other and relevance to the task at hand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4131BE-DD3C-B76D-3172-C0DD0BED1BB1}"/>
              </a:ext>
            </a:extLst>
          </p:cNvPr>
          <p:cNvSpPr txBox="1"/>
          <p:nvPr/>
        </p:nvSpPr>
        <p:spPr>
          <a:xfrm>
            <a:off x="1633132" y="2728789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524812-6B99-1C77-D757-522A932CEB50}"/>
              </a:ext>
            </a:extLst>
          </p:cNvPr>
          <p:cNvSpPr txBox="1"/>
          <p:nvPr/>
        </p:nvSpPr>
        <p:spPr>
          <a:xfrm>
            <a:off x="2706428" y="2702039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BB6999-CFF3-166F-0A20-E9B7D43615E6}"/>
              </a:ext>
            </a:extLst>
          </p:cNvPr>
          <p:cNvSpPr txBox="1"/>
          <p:nvPr/>
        </p:nvSpPr>
        <p:spPr>
          <a:xfrm>
            <a:off x="3519559" y="2702039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2CE1ED-3A6A-4412-9340-9C68F15DE806}"/>
              </a:ext>
            </a:extLst>
          </p:cNvPr>
          <p:cNvSpPr txBox="1"/>
          <p:nvPr/>
        </p:nvSpPr>
        <p:spPr>
          <a:xfrm>
            <a:off x="4348416" y="2702039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5E0CCE-F8B1-DF1D-94DD-67DE29548662}"/>
              </a:ext>
            </a:extLst>
          </p:cNvPr>
          <p:cNvSpPr txBox="1"/>
          <p:nvPr/>
        </p:nvSpPr>
        <p:spPr>
          <a:xfrm>
            <a:off x="5401256" y="2702039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03CEBE-0F65-4702-F391-C07A8370445D}"/>
              </a:ext>
            </a:extLst>
          </p:cNvPr>
          <p:cNvSpPr txBox="1"/>
          <p:nvPr/>
        </p:nvSpPr>
        <p:spPr>
          <a:xfrm>
            <a:off x="7056139" y="2691670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986C27-FEFC-0077-A060-925BD4877EC6}"/>
              </a:ext>
            </a:extLst>
          </p:cNvPr>
          <p:cNvSpPr txBox="1"/>
          <p:nvPr/>
        </p:nvSpPr>
        <p:spPr>
          <a:xfrm>
            <a:off x="9367264" y="2702039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W7</a:t>
            </a:r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4A479E79-9ADB-7C7D-7F19-36E0169185C6}"/>
              </a:ext>
            </a:extLst>
          </p:cNvPr>
          <p:cNvSpPr/>
          <p:nvPr/>
        </p:nvSpPr>
        <p:spPr>
          <a:xfrm>
            <a:off x="1776739" y="2316264"/>
            <a:ext cx="159614" cy="445700"/>
          </a:xfrm>
          <a:prstGeom prst="up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D1578EAF-949F-A137-55E2-D78BD75BF1FF}"/>
              </a:ext>
            </a:extLst>
          </p:cNvPr>
          <p:cNvSpPr/>
          <p:nvPr/>
        </p:nvSpPr>
        <p:spPr>
          <a:xfrm>
            <a:off x="9536327" y="2325257"/>
            <a:ext cx="159614" cy="445700"/>
          </a:xfrm>
          <a:prstGeom prst="up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FF6FED2F-F843-0978-53DD-771736ED0C5B}"/>
              </a:ext>
            </a:extLst>
          </p:cNvPr>
          <p:cNvSpPr/>
          <p:nvPr/>
        </p:nvSpPr>
        <p:spPr>
          <a:xfrm>
            <a:off x="2884708" y="2338221"/>
            <a:ext cx="159614" cy="445700"/>
          </a:xfrm>
          <a:prstGeom prst="up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9C91CD9E-3635-91A0-B7DD-5E109CD14092}"/>
              </a:ext>
            </a:extLst>
          </p:cNvPr>
          <p:cNvSpPr/>
          <p:nvPr/>
        </p:nvSpPr>
        <p:spPr>
          <a:xfrm>
            <a:off x="3690822" y="2308540"/>
            <a:ext cx="159614" cy="445700"/>
          </a:xfrm>
          <a:prstGeom prst="up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81D708E9-6661-7B35-D945-510F849F7FDC}"/>
              </a:ext>
            </a:extLst>
          </p:cNvPr>
          <p:cNvSpPr/>
          <p:nvPr/>
        </p:nvSpPr>
        <p:spPr>
          <a:xfrm>
            <a:off x="4504330" y="2313995"/>
            <a:ext cx="159614" cy="445700"/>
          </a:xfrm>
          <a:prstGeom prst="up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Arrow: Up 24">
            <a:extLst>
              <a:ext uri="{FF2B5EF4-FFF2-40B4-BE49-F238E27FC236}">
                <a16:creationId xmlns:a16="http://schemas.microsoft.com/office/drawing/2014/main" id="{6BF74D98-F842-C814-F100-F3D35B51A269}"/>
              </a:ext>
            </a:extLst>
          </p:cNvPr>
          <p:cNvSpPr/>
          <p:nvPr/>
        </p:nvSpPr>
        <p:spPr>
          <a:xfrm>
            <a:off x="5574884" y="2316264"/>
            <a:ext cx="159614" cy="445700"/>
          </a:xfrm>
          <a:prstGeom prst="up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Arrow: Up 25">
            <a:extLst>
              <a:ext uri="{FF2B5EF4-FFF2-40B4-BE49-F238E27FC236}">
                <a16:creationId xmlns:a16="http://schemas.microsoft.com/office/drawing/2014/main" id="{A572A6D1-A71A-9C88-2789-3616055F47B1}"/>
              </a:ext>
            </a:extLst>
          </p:cNvPr>
          <p:cNvSpPr/>
          <p:nvPr/>
        </p:nvSpPr>
        <p:spPr>
          <a:xfrm>
            <a:off x="7229767" y="2306271"/>
            <a:ext cx="159614" cy="445700"/>
          </a:xfrm>
          <a:prstGeom prst="up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C64CF9-645B-B40A-5ABA-2EFA980325E1}"/>
              </a:ext>
            </a:extLst>
          </p:cNvPr>
          <p:cNvSpPr txBox="1"/>
          <p:nvPr/>
        </p:nvSpPr>
        <p:spPr>
          <a:xfrm>
            <a:off x="127220" y="1849918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Input 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96E14496-1226-2944-52CE-BB354DBB9C78}"/>
              </a:ext>
            </a:extLst>
          </p:cNvPr>
          <p:cNvSpPr/>
          <p:nvPr/>
        </p:nvSpPr>
        <p:spPr>
          <a:xfrm>
            <a:off x="802541" y="1744930"/>
            <a:ext cx="335899" cy="664464"/>
          </a:xfrm>
          <a:prstGeom prst="leftBrace">
            <a:avLst/>
          </a:prstGeom>
          <a:ln w="41275">
            <a:solidFill>
              <a:srgbClr val="99FF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7B11B9-05D7-31CB-4452-6CE37B9823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4007" y="1784252"/>
            <a:ext cx="1287605" cy="4968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9E6291-6D39-B30C-2E6E-BC019D5258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8513" y="1784023"/>
            <a:ext cx="784423" cy="4968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9149A20-D4B7-361C-062C-2B159A37C7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2494" y="1776528"/>
            <a:ext cx="556655" cy="4968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7379032-5D32-9B50-1A26-67CAD94E32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1831" y="1791467"/>
            <a:ext cx="2857822" cy="49685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1A8582-02B0-A0E8-6A37-1BB7FDE7CF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8707" y="1784023"/>
            <a:ext cx="1367848" cy="49685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7385459-1225-65BA-7096-E7542CAFE5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0758" y="1794803"/>
            <a:ext cx="506870" cy="49685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BA26056-580F-927A-AD37-1E47AEE08A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1570" y="1784023"/>
            <a:ext cx="1423833" cy="496854"/>
          </a:xfrm>
          <a:prstGeom prst="rect">
            <a:avLst/>
          </a:prstGeom>
        </p:spPr>
      </p:pic>
      <p:sp>
        <p:nvSpPr>
          <p:cNvPr id="30" name="Left Brace 29">
            <a:extLst>
              <a:ext uri="{FF2B5EF4-FFF2-40B4-BE49-F238E27FC236}">
                <a16:creationId xmlns:a16="http://schemas.microsoft.com/office/drawing/2014/main" id="{312291C1-44AD-7878-785A-AA40BA573501}"/>
              </a:ext>
            </a:extLst>
          </p:cNvPr>
          <p:cNvSpPr/>
          <p:nvPr/>
        </p:nvSpPr>
        <p:spPr>
          <a:xfrm rot="16200000">
            <a:off x="5536524" y="-689675"/>
            <a:ext cx="256026" cy="8062810"/>
          </a:xfrm>
          <a:prstGeom prst="leftBrace">
            <a:avLst/>
          </a:prstGeom>
          <a:ln w="41275">
            <a:solidFill>
              <a:srgbClr val="FFFF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F3DFE2-42C4-FF1A-FF13-F905BAA81DBF}"/>
              </a:ext>
            </a:extLst>
          </p:cNvPr>
          <p:cNvSpPr txBox="1"/>
          <p:nvPr/>
        </p:nvSpPr>
        <p:spPr>
          <a:xfrm>
            <a:off x="5182125" y="3516270"/>
            <a:ext cx="945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Weights</a:t>
            </a:r>
          </a:p>
        </p:txBody>
      </p:sp>
    </p:spTree>
    <p:extLst>
      <p:ext uri="{BB962C8B-B14F-4D97-AF65-F5344CB8AC3E}">
        <p14:creationId xmlns:p14="http://schemas.microsoft.com/office/powerpoint/2010/main" val="297846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4" grpId="0"/>
      <p:bldP spid="15" grpId="0"/>
      <p:bldP spid="16" grpId="0"/>
      <p:bldP spid="17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0" grpId="0" animBg="1"/>
      <p:bldP spid="3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74C7BE-BD04-37DE-F35E-B5CAB49D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15878C-DC75-BF52-3309-A4CCBFA85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827" y="2187074"/>
            <a:ext cx="9894666" cy="1688738"/>
          </a:xfrm>
          <a:prstGeom prst="rect">
            <a:avLst/>
          </a:prstGeom>
        </p:spPr>
      </p:pic>
      <p:sp>
        <p:nvSpPr>
          <p:cNvPr id="6" name="Cloud 5">
            <a:extLst>
              <a:ext uri="{FF2B5EF4-FFF2-40B4-BE49-F238E27FC236}">
                <a16:creationId xmlns:a16="http://schemas.microsoft.com/office/drawing/2014/main" id="{A096EE92-4922-04EF-8501-49F7E61BD3EE}"/>
              </a:ext>
            </a:extLst>
          </p:cNvPr>
          <p:cNvSpPr/>
          <p:nvPr/>
        </p:nvSpPr>
        <p:spPr>
          <a:xfrm>
            <a:off x="1936283" y="987825"/>
            <a:ext cx="5849485" cy="1060329"/>
          </a:xfrm>
          <a:prstGeom prst="cloud">
            <a:avLst/>
          </a:prstGeom>
          <a:solidFill>
            <a:srgbClr val="CCEC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is the weighting is determined for a particular token 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13D7B4-81BE-F58B-8992-EF44B7CE86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955" y="987825"/>
            <a:ext cx="424134" cy="919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A78322-6F91-4159-8D16-00FEEF7504DC}"/>
              </a:ext>
            </a:extLst>
          </p:cNvPr>
          <p:cNvSpPr txBox="1"/>
          <p:nvPr/>
        </p:nvSpPr>
        <p:spPr>
          <a:xfrm>
            <a:off x="3518568" y="42545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The WEIGHT for each token is determined through training with a vast amount of data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09FC2138-E9F4-678B-6AE7-D00AA82BD525}"/>
              </a:ext>
            </a:extLst>
          </p:cNvPr>
          <p:cNvSpPr/>
          <p:nvPr/>
        </p:nvSpPr>
        <p:spPr>
          <a:xfrm rot="16200000">
            <a:off x="5915013" y="820"/>
            <a:ext cx="209577" cy="7959561"/>
          </a:xfrm>
          <a:prstGeom prst="leftBrac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DFFF9720-44BE-EDB0-A9C6-9C26FE4F2E1B}"/>
              </a:ext>
            </a:extLst>
          </p:cNvPr>
          <p:cNvSpPr/>
          <p:nvPr/>
        </p:nvSpPr>
        <p:spPr>
          <a:xfrm rot="20527595">
            <a:off x="1224548" y="4763318"/>
            <a:ext cx="2171032" cy="3743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3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AB54A8-964B-8257-AF5D-A0E20AE1A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90D830-58B1-8A0F-AE0E-31E1E6D59C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811" y="5582997"/>
            <a:ext cx="770184" cy="9197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F0E93CC-9529-94E7-A308-D427CEE32354}"/>
              </a:ext>
            </a:extLst>
          </p:cNvPr>
          <p:cNvSpPr/>
          <p:nvPr/>
        </p:nvSpPr>
        <p:spPr>
          <a:xfrm>
            <a:off x="2266364" y="5272956"/>
            <a:ext cx="8091488" cy="1382421"/>
          </a:xfrm>
          <a:prstGeom prst="roundRect">
            <a:avLst/>
          </a:prstGeom>
          <a:solidFill>
            <a:srgbClr val="FFFF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The assigned weight of the word STROKE reflects its relevance and close relationship to the words ATHEROSCLEROTIC and DISEASE ( as illustrated by more heavy weighted arrows) than the remaining text in the sequence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919A93-812F-144D-7F57-63B2548AD133}"/>
              </a:ext>
            </a:extLst>
          </p:cNvPr>
          <p:cNvSpPr txBox="1"/>
          <p:nvPr/>
        </p:nvSpPr>
        <p:spPr>
          <a:xfrm>
            <a:off x="2785059" y="213893"/>
            <a:ext cx="231633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Stroke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can 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be 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caused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by 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atherosclerotic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disease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F81461-CA30-E3CB-47C5-7C96915CA20E}"/>
              </a:ext>
            </a:extLst>
          </p:cNvPr>
          <p:cNvSpPr txBox="1"/>
          <p:nvPr/>
        </p:nvSpPr>
        <p:spPr>
          <a:xfrm>
            <a:off x="7090613" y="280384"/>
            <a:ext cx="212198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Stroke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caused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atherosclerotic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disease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F9FBA3-4B83-2BB5-25E9-B19ED47FCB71}"/>
              </a:ext>
            </a:extLst>
          </p:cNvPr>
          <p:cNvCxnSpPr/>
          <p:nvPr/>
        </p:nvCxnSpPr>
        <p:spPr>
          <a:xfrm>
            <a:off x="3694112" y="57216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E530188-8EFB-19DC-D19E-8C4C6EE16BC8}"/>
              </a:ext>
            </a:extLst>
          </p:cNvPr>
          <p:cNvCxnSpPr/>
          <p:nvPr/>
        </p:nvCxnSpPr>
        <p:spPr>
          <a:xfrm>
            <a:off x="3781884" y="572168"/>
            <a:ext cx="3471362" cy="3459747"/>
          </a:xfrm>
          <a:prstGeom prst="straightConnector1">
            <a:avLst/>
          </a:prstGeom>
          <a:ln w="76200">
            <a:solidFill>
              <a:srgbClr val="CCFF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BB07C72-EE6D-D499-93C8-FAF1676A86FD}"/>
              </a:ext>
            </a:extLst>
          </p:cNvPr>
          <p:cNvCxnSpPr/>
          <p:nvPr/>
        </p:nvCxnSpPr>
        <p:spPr>
          <a:xfrm>
            <a:off x="3694112" y="625642"/>
            <a:ext cx="3492751" cy="4208379"/>
          </a:xfrm>
          <a:prstGeom prst="straightConnector1">
            <a:avLst/>
          </a:prstGeom>
          <a:ln w="79375"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DAE90A4-7949-8930-A695-28AF3F9A497E}"/>
              </a:ext>
            </a:extLst>
          </p:cNvPr>
          <p:cNvCxnSpPr>
            <a:cxnSpLocks/>
          </p:cNvCxnSpPr>
          <p:nvPr/>
        </p:nvCxnSpPr>
        <p:spPr>
          <a:xfrm>
            <a:off x="3781884" y="473243"/>
            <a:ext cx="3308729" cy="76199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6DAB125-B4F3-B99F-79AD-155DCEDC8A31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934284" y="617621"/>
            <a:ext cx="3156329" cy="21095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98268CD-8373-6BCD-2F6F-0EB70DF1A2C0}"/>
              </a:ext>
            </a:extLst>
          </p:cNvPr>
          <p:cNvCxnSpPr>
            <a:cxnSpLocks/>
          </p:cNvCxnSpPr>
          <p:nvPr/>
        </p:nvCxnSpPr>
        <p:spPr>
          <a:xfrm>
            <a:off x="3762708" y="452079"/>
            <a:ext cx="3156329" cy="276726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1304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63662F-1D0D-D9FF-6BAC-B5285EA4A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33EC5A-178A-B644-B9E3-8A89317A72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51" y="4947744"/>
            <a:ext cx="770184" cy="9197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B30CBA8-913A-982F-2F4B-59055DE5CD03}"/>
              </a:ext>
            </a:extLst>
          </p:cNvPr>
          <p:cNvSpPr/>
          <p:nvPr/>
        </p:nvSpPr>
        <p:spPr>
          <a:xfrm>
            <a:off x="5735153" y="367447"/>
            <a:ext cx="1838632" cy="17132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Stroke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E08DEB7-62AE-5492-0DC3-EBE41926CACE}"/>
              </a:ext>
            </a:extLst>
          </p:cNvPr>
          <p:cNvSpPr/>
          <p:nvPr/>
        </p:nvSpPr>
        <p:spPr>
          <a:xfrm>
            <a:off x="2423875" y="881599"/>
            <a:ext cx="2361626" cy="6784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Atherosclerotic disease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902389-25A9-4633-4935-74890383F60C}"/>
              </a:ext>
            </a:extLst>
          </p:cNvPr>
          <p:cNvSpPr/>
          <p:nvPr/>
        </p:nvSpPr>
        <p:spPr>
          <a:xfrm>
            <a:off x="2142602" y="3163132"/>
            <a:ext cx="8294963" cy="3080801"/>
          </a:xfrm>
          <a:prstGeom prst="roundRect">
            <a:avLst/>
          </a:prstGeom>
          <a:solidFill>
            <a:srgbClr val="FFFF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of Attention mechanism transforms the input into a rich contextualized representation of the input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The new representation contains all information of the input sequence plus the relevance of each token to other tokens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409A88-3008-C44B-665D-AE2F0BCFFF93}"/>
              </a:ext>
            </a:extLst>
          </p:cNvPr>
          <p:cNvSpPr txBox="1"/>
          <p:nvPr/>
        </p:nvSpPr>
        <p:spPr>
          <a:xfrm>
            <a:off x="1567542" y="2140406"/>
            <a:ext cx="10479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The word </a:t>
            </a:r>
            <a:r>
              <a:rPr lang="en-US" sz="2400" dirty="0">
                <a:solidFill>
                  <a:srgbClr val="99FF33"/>
                </a:solidFill>
              </a:rPr>
              <a:t>STROKE</a:t>
            </a:r>
            <a:r>
              <a:rPr lang="en-US" sz="2400" dirty="0">
                <a:solidFill>
                  <a:schemeClr val="bg1"/>
                </a:solidFill>
              </a:rPr>
              <a:t> is relevant and  has a new context closely associating with  </a:t>
            </a:r>
            <a:r>
              <a:rPr lang="en-US" sz="2400" dirty="0">
                <a:solidFill>
                  <a:srgbClr val="99FF33"/>
                </a:solidFill>
              </a:rPr>
              <a:t>ATHEROSCLEROTIC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rgbClr val="99FF33"/>
                </a:solidFill>
              </a:rPr>
              <a:t>DISEASE</a:t>
            </a:r>
          </a:p>
        </p:txBody>
      </p:sp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2C0F0257-9ED7-85CB-20F1-34E0F830C84B}"/>
              </a:ext>
            </a:extLst>
          </p:cNvPr>
          <p:cNvSpPr/>
          <p:nvPr/>
        </p:nvSpPr>
        <p:spPr>
          <a:xfrm>
            <a:off x="4841227" y="1062969"/>
            <a:ext cx="893926" cy="305327"/>
          </a:xfrm>
          <a:prstGeom prst="leftRightArrow">
            <a:avLst/>
          </a:prstGeom>
          <a:solidFill>
            <a:srgbClr val="99FF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0402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C36162-28FA-22C5-80D8-59ECD4134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E8830A-516F-571B-5E75-93BBCE20E1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456" y="5145597"/>
            <a:ext cx="770184" cy="9197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0846C75-9D13-2A7D-65B1-911F7846F799}"/>
              </a:ext>
            </a:extLst>
          </p:cNvPr>
          <p:cNvSpPr/>
          <p:nvPr/>
        </p:nvSpPr>
        <p:spPr>
          <a:xfrm>
            <a:off x="3040389" y="4775003"/>
            <a:ext cx="7007125" cy="1725318"/>
          </a:xfrm>
          <a:prstGeom prst="roundRect">
            <a:avLst/>
          </a:prstGeom>
          <a:solidFill>
            <a:srgbClr val="FFFF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We can provide more inputs to the transformer to increase the contextualization of the word STROKE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FC8C0E-9B89-F42A-5530-6F3270D779BD}"/>
              </a:ext>
            </a:extLst>
          </p:cNvPr>
          <p:cNvSpPr txBox="1"/>
          <p:nvPr/>
        </p:nvSpPr>
        <p:spPr>
          <a:xfrm>
            <a:off x="186384" y="1681175"/>
            <a:ext cx="548387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Stroke can be caused by vessel vasospasm</a:t>
            </a:r>
          </a:p>
          <a:p>
            <a:r>
              <a:rPr lang="en-US" sz="2400" dirty="0">
                <a:solidFill>
                  <a:schemeClr val="bg1"/>
                </a:solidFill>
              </a:rPr>
              <a:t>Strone can be caused by embolism</a:t>
            </a:r>
          </a:p>
          <a:p>
            <a:r>
              <a:rPr lang="en-US" sz="2400" dirty="0">
                <a:solidFill>
                  <a:schemeClr val="bg1"/>
                </a:solidFill>
              </a:rPr>
              <a:t>Stroke can be caused by  vessel dissection </a:t>
            </a:r>
          </a:p>
          <a:p>
            <a:r>
              <a:rPr lang="en-US" sz="2400" dirty="0">
                <a:solidFill>
                  <a:schemeClr val="bg1"/>
                </a:solidFill>
              </a:rPr>
              <a:t>Stroke can be caused by vessel transection</a:t>
            </a:r>
          </a:p>
          <a:p>
            <a:r>
              <a:rPr lang="en-US" sz="2400" dirty="0">
                <a:solidFill>
                  <a:schemeClr val="bg1"/>
                </a:solidFill>
              </a:rPr>
              <a:t>Stroke can be caused by hemorrhage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88821AE-3A5E-6B95-536F-1980F722A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820" y="805543"/>
            <a:ext cx="5339557" cy="3956487"/>
          </a:xfrm>
          <a:prstGeom prst="rect">
            <a:avLst/>
          </a:prstGeom>
        </p:spPr>
      </p:pic>
      <p:sp>
        <p:nvSpPr>
          <p:cNvPr id="21" name="Right Brace 20">
            <a:extLst>
              <a:ext uri="{FF2B5EF4-FFF2-40B4-BE49-F238E27FC236}">
                <a16:creationId xmlns:a16="http://schemas.microsoft.com/office/drawing/2014/main" id="{F307DCA4-BB32-50C8-3BFA-634209DC3D9C}"/>
              </a:ext>
            </a:extLst>
          </p:cNvPr>
          <p:cNvSpPr/>
          <p:nvPr/>
        </p:nvSpPr>
        <p:spPr>
          <a:xfrm>
            <a:off x="5494924" y="805543"/>
            <a:ext cx="522514" cy="3690257"/>
          </a:xfrm>
          <a:prstGeom prst="rightBrace">
            <a:avLst/>
          </a:prstGeom>
          <a:ln w="44450">
            <a:solidFill>
              <a:srgbClr val="FFFF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9C39FF-9D7A-B60C-D10E-8DE437B15BD1}"/>
              </a:ext>
            </a:extLst>
          </p:cNvPr>
          <p:cNvSpPr txBox="1"/>
          <p:nvPr/>
        </p:nvSpPr>
        <p:spPr>
          <a:xfrm>
            <a:off x="5280332" y="357679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3996131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 animBg="1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F646CE-7199-2951-E077-76752F860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20E3C8-C50D-A236-619F-B159130767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468" y="5559016"/>
            <a:ext cx="770184" cy="9197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CC55D019-92D5-33EE-89E7-ACDDB18A8708}"/>
              </a:ext>
            </a:extLst>
          </p:cNvPr>
          <p:cNvSpPr/>
          <p:nvPr/>
        </p:nvSpPr>
        <p:spPr>
          <a:xfrm>
            <a:off x="5273952" y="1523538"/>
            <a:ext cx="1838632" cy="17132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Stroke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A13381-4D24-0303-057E-095152283DC5}"/>
              </a:ext>
            </a:extLst>
          </p:cNvPr>
          <p:cNvSpPr/>
          <p:nvPr/>
        </p:nvSpPr>
        <p:spPr>
          <a:xfrm>
            <a:off x="3511921" y="381813"/>
            <a:ext cx="2361626" cy="6784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Atherosclerotic disease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67C0BF1-8333-888C-27C3-E3CB1113CD94}"/>
              </a:ext>
            </a:extLst>
          </p:cNvPr>
          <p:cNvSpPr/>
          <p:nvPr/>
        </p:nvSpPr>
        <p:spPr>
          <a:xfrm>
            <a:off x="1990901" y="2036534"/>
            <a:ext cx="2361626" cy="6784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Vessel spasm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4B32F9F-66FD-9614-0562-21939C7D0F27}"/>
              </a:ext>
            </a:extLst>
          </p:cNvPr>
          <p:cNvSpPr/>
          <p:nvPr/>
        </p:nvSpPr>
        <p:spPr>
          <a:xfrm>
            <a:off x="6551308" y="422334"/>
            <a:ext cx="2361626" cy="6784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Vessel dissection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8C90D8-731D-2524-1CBA-BFBBD5FB2272}"/>
              </a:ext>
            </a:extLst>
          </p:cNvPr>
          <p:cNvSpPr/>
          <p:nvPr/>
        </p:nvSpPr>
        <p:spPr>
          <a:xfrm>
            <a:off x="8006510" y="2036534"/>
            <a:ext cx="2361626" cy="6784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Vessel transection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9170633-73A5-60E3-4E2B-D4753B890635}"/>
              </a:ext>
            </a:extLst>
          </p:cNvPr>
          <p:cNvSpPr/>
          <p:nvPr/>
        </p:nvSpPr>
        <p:spPr>
          <a:xfrm>
            <a:off x="5012455" y="4170212"/>
            <a:ext cx="2361626" cy="6784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Hemorrhage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123B090-4DFB-F996-58E2-00ED273E0B3C}"/>
              </a:ext>
            </a:extLst>
          </p:cNvPr>
          <p:cNvSpPr/>
          <p:nvPr/>
        </p:nvSpPr>
        <p:spPr>
          <a:xfrm>
            <a:off x="2537041" y="4935103"/>
            <a:ext cx="7007125" cy="1725318"/>
          </a:xfrm>
          <a:prstGeom prst="roundRect">
            <a:avLst/>
          </a:prstGeom>
          <a:solidFill>
            <a:srgbClr val="FFFF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The word STROKE now has a richer contextualization as it is now associated with additional causes of stroke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1654B6F9-DE84-A35D-1F8B-4038E7726D1D}"/>
              </a:ext>
            </a:extLst>
          </p:cNvPr>
          <p:cNvSpPr/>
          <p:nvPr/>
        </p:nvSpPr>
        <p:spPr>
          <a:xfrm>
            <a:off x="4366276" y="2216402"/>
            <a:ext cx="893926" cy="305327"/>
          </a:xfrm>
          <a:prstGeom prst="leftRightArrow">
            <a:avLst/>
          </a:prstGeom>
          <a:solidFill>
            <a:srgbClr val="99FF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Arrow: Left-Right 24">
            <a:extLst>
              <a:ext uri="{FF2B5EF4-FFF2-40B4-BE49-F238E27FC236}">
                <a16:creationId xmlns:a16="http://schemas.microsoft.com/office/drawing/2014/main" id="{47313543-135F-8641-0B96-750D1FC68B64}"/>
              </a:ext>
            </a:extLst>
          </p:cNvPr>
          <p:cNvSpPr/>
          <p:nvPr/>
        </p:nvSpPr>
        <p:spPr>
          <a:xfrm>
            <a:off x="7112584" y="2244972"/>
            <a:ext cx="893926" cy="305327"/>
          </a:xfrm>
          <a:prstGeom prst="leftRightArrow">
            <a:avLst/>
          </a:prstGeom>
          <a:solidFill>
            <a:srgbClr val="99FF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Arrow: Left-Right 25">
            <a:extLst>
              <a:ext uri="{FF2B5EF4-FFF2-40B4-BE49-F238E27FC236}">
                <a16:creationId xmlns:a16="http://schemas.microsoft.com/office/drawing/2014/main" id="{5E052613-B8CD-8FCC-1007-495BB80F6F69}"/>
              </a:ext>
            </a:extLst>
          </p:cNvPr>
          <p:cNvSpPr/>
          <p:nvPr/>
        </p:nvSpPr>
        <p:spPr>
          <a:xfrm rot="3394558">
            <a:off x="4820114" y="1287117"/>
            <a:ext cx="893926" cy="305327"/>
          </a:xfrm>
          <a:prstGeom prst="leftRightArrow">
            <a:avLst/>
          </a:prstGeom>
          <a:solidFill>
            <a:srgbClr val="99FF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Arrow: Left-Right 27">
            <a:extLst>
              <a:ext uri="{FF2B5EF4-FFF2-40B4-BE49-F238E27FC236}">
                <a16:creationId xmlns:a16="http://schemas.microsoft.com/office/drawing/2014/main" id="{85A174DE-9EE4-AEB9-452D-3C44F89AD0BA}"/>
              </a:ext>
            </a:extLst>
          </p:cNvPr>
          <p:cNvSpPr/>
          <p:nvPr/>
        </p:nvSpPr>
        <p:spPr>
          <a:xfrm rot="18508201">
            <a:off x="6808123" y="1352490"/>
            <a:ext cx="893926" cy="305327"/>
          </a:xfrm>
          <a:prstGeom prst="leftRightArrow">
            <a:avLst/>
          </a:prstGeom>
          <a:solidFill>
            <a:srgbClr val="99FF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Arrow: Left-Right 28">
            <a:extLst>
              <a:ext uri="{FF2B5EF4-FFF2-40B4-BE49-F238E27FC236}">
                <a16:creationId xmlns:a16="http://schemas.microsoft.com/office/drawing/2014/main" id="{75DB7144-0619-2915-70F8-4898C0EC2BB6}"/>
              </a:ext>
            </a:extLst>
          </p:cNvPr>
          <p:cNvSpPr/>
          <p:nvPr/>
        </p:nvSpPr>
        <p:spPr>
          <a:xfrm rot="5400000">
            <a:off x="5746304" y="3547445"/>
            <a:ext cx="893926" cy="305327"/>
          </a:xfrm>
          <a:prstGeom prst="leftRightArrow">
            <a:avLst/>
          </a:prstGeom>
          <a:solidFill>
            <a:srgbClr val="99FF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8662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4F8B08-68DF-FBCB-A975-346F2C741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>
            <a:extLst>
              <a:ext uri="{FF2B5EF4-FFF2-40B4-BE49-F238E27FC236}">
                <a16:creationId xmlns:a16="http://schemas.microsoft.com/office/drawing/2014/main" id="{27ABEB57-A54E-7487-F356-A3537738B3CC}"/>
              </a:ext>
            </a:extLst>
          </p:cNvPr>
          <p:cNvSpPr/>
          <p:nvPr/>
        </p:nvSpPr>
        <p:spPr>
          <a:xfrm>
            <a:off x="832280" y="233160"/>
            <a:ext cx="6910709" cy="1002194"/>
          </a:xfrm>
          <a:prstGeom prst="cloud">
            <a:avLst/>
          </a:prstGeom>
          <a:solidFill>
            <a:srgbClr val="CCECFF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is Attention mechanism important in transformer networks?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626F88-C134-7169-06E1-091151A49E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23" y="315654"/>
            <a:ext cx="424134" cy="919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DAE857-9DDD-9B03-51E3-40A4A1E66F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98" y="5314761"/>
            <a:ext cx="770184" cy="9197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558AFD0-C19C-835D-2150-6EB7AB62B95B}"/>
              </a:ext>
            </a:extLst>
          </p:cNvPr>
          <p:cNvSpPr/>
          <p:nvPr/>
        </p:nvSpPr>
        <p:spPr>
          <a:xfrm>
            <a:off x="1133643" y="1417054"/>
            <a:ext cx="10673346" cy="5100154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 i="1" dirty="0">
                <a:solidFill>
                  <a:srgbClr val="7030A0"/>
                </a:solidFill>
              </a:rPr>
              <a:t>Here is why Attention mechanism important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Capturing Long-Range Dependencies: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</a:t>
            </a: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Calibri" panose="020F0502020204030204"/>
              </a:rPr>
              <a:t>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attention mechanism allows transformers to relate any token to any other token in the input, no matter how far apart they are.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Context and Relevance: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</a:t>
            </a: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assigning different "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 weights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 to tokens, the model can determine which pieces of information are most important for the current task and establish a contextual relationships among the tokens. </a:t>
            </a: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Enabling Parallelization: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</a:t>
            </a: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attention mechanism allows transformer models to process entire input sequences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concurrently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significantly speeding up training </a:t>
            </a: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Holistic Data Understanding: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</a:t>
            </a: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considering the relationships between all parts of the input, the attention mechanism helps the model form a more complete and contextual understanding of the data. </a:t>
            </a:r>
          </a:p>
        </p:txBody>
      </p:sp>
    </p:spTree>
    <p:extLst>
      <p:ext uri="{BB962C8B-B14F-4D97-AF65-F5344CB8AC3E}">
        <p14:creationId xmlns:p14="http://schemas.microsoft.com/office/powerpoint/2010/main" val="462676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6C4F32-67F5-0D96-3221-8CEC5BBB7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DA7FBA-9494-9F25-8A55-C2EB4FEA28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19" y="5672552"/>
            <a:ext cx="770184" cy="91970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7A85F5-25D7-648D-CFFE-4E6C9E4866B3}"/>
              </a:ext>
            </a:extLst>
          </p:cNvPr>
          <p:cNvSpPr/>
          <p:nvPr/>
        </p:nvSpPr>
        <p:spPr>
          <a:xfrm>
            <a:off x="5022837" y="4523767"/>
            <a:ext cx="5750566" cy="130917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can illustrate the flow process of the transformer network in response to an </a:t>
            </a:r>
            <a:r>
              <a:rPr lang="en-US" kern="0" dirty="0">
                <a:solidFill>
                  <a:prstClr val="black"/>
                </a:solidFill>
                <a:latin typeface="Calibri" panose="020F0502020204030204"/>
              </a:rPr>
              <a:t>INPUT PROMPT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C8B3E2-22E6-0B3C-1E22-DDD4094E5C81}"/>
              </a:ext>
            </a:extLst>
          </p:cNvPr>
          <p:cNvSpPr/>
          <p:nvPr/>
        </p:nvSpPr>
        <p:spPr>
          <a:xfrm>
            <a:off x="1935872" y="1051572"/>
            <a:ext cx="1518188" cy="276589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Encoder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(Processing of input data)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13808E-3347-D5DA-A25F-2B2076A4040C}"/>
              </a:ext>
            </a:extLst>
          </p:cNvPr>
          <p:cNvSpPr/>
          <p:nvPr/>
        </p:nvSpPr>
        <p:spPr>
          <a:xfrm>
            <a:off x="1756247" y="5262378"/>
            <a:ext cx="1877438" cy="3483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Embedding</a:t>
            </a:r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F0F91725-D493-C222-BFF3-AEDE9287EDB0}"/>
              </a:ext>
            </a:extLst>
          </p:cNvPr>
          <p:cNvSpPr/>
          <p:nvPr/>
        </p:nvSpPr>
        <p:spPr>
          <a:xfrm>
            <a:off x="2513387" y="5672552"/>
            <a:ext cx="118301" cy="724829"/>
          </a:xfrm>
          <a:prstGeom prst="up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4B9F80-32F3-88FF-9BDD-DCC37207F43E}"/>
              </a:ext>
            </a:extLst>
          </p:cNvPr>
          <p:cNvSpPr txBox="1"/>
          <p:nvPr/>
        </p:nvSpPr>
        <p:spPr>
          <a:xfrm>
            <a:off x="1529482" y="6289659"/>
            <a:ext cx="5681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white"/>
                </a:solidFill>
                <a:latin typeface="Calibri" panose="020F0502020204030204"/>
              </a:rPr>
              <a:t>Input prompt = “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cause of stroke”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lowchart: Summing Junction 17">
            <a:extLst>
              <a:ext uri="{FF2B5EF4-FFF2-40B4-BE49-F238E27FC236}">
                <a16:creationId xmlns:a16="http://schemas.microsoft.com/office/drawing/2014/main" id="{2CF12114-CA9C-BEBE-4065-A902B7316AF7}"/>
              </a:ext>
            </a:extLst>
          </p:cNvPr>
          <p:cNvSpPr/>
          <p:nvPr/>
        </p:nvSpPr>
        <p:spPr>
          <a:xfrm>
            <a:off x="2390458" y="4423479"/>
            <a:ext cx="435429" cy="393740"/>
          </a:xfrm>
          <a:prstGeom prst="flowChartSummingJunctio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7D0D99-1D2F-E6A9-08D3-7D43758C0A12}"/>
              </a:ext>
            </a:extLst>
          </p:cNvPr>
          <p:cNvSpPr txBox="1"/>
          <p:nvPr/>
        </p:nvSpPr>
        <p:spPr>
          <a:xfrm>
            <a:off x="363724" y="4423479"/>
            <a:ext cx="2026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Positional Encoding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9D0A5F2-6484-AE71-B9B2-B0CC36B9CE01}"/>
              </a:ext>
            </a:extLst>
          </p:cNvPr>
          <p:cNvSpPr/>
          <p:nvPr/>
        </p:nvSpPr>
        <p:spPr>
          <a:xfrm>
            <a:off x="5456464" y="944816"/>
            <a:ext cx="1794549" cy="327039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Decoder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(The</a:t>
            </a:r>
            <a:r>
              <a:rPr kumimoji="0" lang="en-US" sz="1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contextualized STROKE word is recognized by the network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2" name="Arrow: Up 21">
            <a:extLst>
              <a:ext uri="{FF2B5EF4-FFF2-40B4-BE49-F238E27FC236}">
                <a16:creationId xmlns:a16="http://schemas.microsoft.com/office/drawing/2014/main" id="{BD26893D-A14E-F5F1-39CC-D77ABCD67283}"/>
              </a:ext>
            </a:extLst>
          </p:cNvPr>
          <p:cNvSpPr/>
          <p:nvPr/>
        </p:nvSpPr>
        <p:spPr>
          <a:xfrm>
            <a:off x="2513387" y="4881375"/>
            <a:ext cx="118301" cy="348342"/>
          </a:xfrm>
          <a:prstGeom prst="up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Arrow: Up 23">
            <a:extLst>
              <a:ext uri="{FF2B5EF4-FFF2-40B4-BE49-F238E27FC236}">
                <a16:creationId xmlns:a16="http://schemas.microsoft.com/office/drawing/2014/main" id="{FBF4FCB1-5A10-A0D7-E5A6-3D9B4C53C438}"/>
              </a:ext>
            </a:extLst>
          </p:cNvPr>
          <p:cNvSpPr/>
          <p:nvPr/>
        </p:nvSpPr>
        <p:spPr>
          <a:xfrm>
            <a:off x="2543446" y="3858201"/>
            <a:ext cx="129452" cy="473025"/>
          </a:xfrm>
          <a:prstGeom prst="up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AA2F85-132B-4E2A-77B5-BFE54FD2E1C1}"/>
              </a:ext>
            </a:extLst>
          </p:cNvPr>
          <p:cNvSpPr txBox="1"/>
          <p:nvPr/>
        </p:nvSpPr>
        <p:spPr>
          <a:xfrm>
            <a:off x="486634" y="4018439"/>
            <a:ext cx="16215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into the Encoder </a:t>
            </a:r>
          </a:p>
        </p:txBody>
      </p:sp>
      <p:sp>
        <p:nvSpPr>
          <p:cNvPr id="26" name="Arrow: Up 25">
            <a:extLst>
              <a:ext uri="{FF2B5EF4-FFF2-40B4-BE49-F238E27FC236}">
                <a16:creationId xmlns:a16="http://schemas.microsoft.com/office/drawing/2014/main" id="{D9473E71-475D-B106-761F-C38AC7A53CC5}"/>
              </a:ext>
            </a:extLst>
          </p:cNvPr>
          <p:cNvSpPr/>
          <p:nvPr/>
        </p:nvSpPr>
        <p:spPr>
          <a:xfrm rot="5400000">
            <a:off x="4389920" y="1495801"/>
            <a:ext cx="227067" cy="1877438"/>
          </a:xfrm>
          <a:prstGeom prst="up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D6924A-A19B-CBC8-B5CC-8C69FF07CFE5}"/>
              </a:ext>
            </a:extLst>
          </p:cNvPr>
          <p:cNvSpPr txBox="1"/>
          <p:nvPr/>
        </p:nvSpPr>
        <p:spPr>
          <a:xfrm>
            <a:off x="3675409" y="2617140"/>
            <a:ext cx="18774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Processed data from Encoder is sent to the Decoder</a:t>
            </a:r>
          </a:p>
        </p:txBody>
      </p:sp>
      <p:sp>
        <p:nvSpPr>
          <p:cNvPr id="28" name="Arrow: Up 27">
            <a:extLst>
              <a:ext uri="{FF2B5EF4-FFF2-40B4-BE49-F238E27FC236}">
                <a16:creationId xmlns:a16="http://schemas.microsoft.com/office/drawing/2014/main" id="{D62451C6-6CE3-582B-1ACC-35C5BEFE3031}"/>
              </a:ext>
            </a:extLst>
          </p:cNvPr>
          <p:cNvSpPr/>
          <p:nvPr/>
        </p:nvSpPr>
        <p:spPr>
          <a:xfrm rot="5400000">
            <a:off x="8117245" y="1495801"/>
            <a:ext cx="227067" cy="1877438"/>
          </a:xfrm>
          <a:prstGeom prst="up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EF6AF8-E8EB-F617-4800-AF1C8AA30EB7}"/>
              </a:ext>
            </a:extLst>
          </p:cNvPr>
          <p:cNvSpPr txBox="1"/>
          <p:nvPr/>
        </p:nvSpPr>
        <p:spPr>
          <a:xfrm>
            <a:off x="9105033" y="1209226"/>
            <a:ext cx="29136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</a:t>
            </a:r>
            <a:r>
              <a:rPr kumimoji="0" lang="en-US" sz="2400" b="0" i="1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cause of stroke can be atherosclerotic disease, vessel spasm, embolism, vessel dissection, vessel transection or hemorrhage 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97C802-6D74-6023-0B63-D6CEC8C635A7}"/>
              </a:ext>
            </a:extLst>
          </p:cNvPr>
          <p:cNvSpPr txBox="1"/>
          <p:nvPr/>
        </p:nvSpPr>
        <p:spPr>
          <a:xfrm>
            <a:off x="7743278" y="2617140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42D4E6C-2250-0F99-5053-DFAB0FCF2C29}"/>
              </a:ext>
            </a:extLst>
          </p:cNvPr>
          <p:cNvSpPr/>
          <p:nvPr/>
        </p:nvSpPr>
        <p:spPr>
          <a:xfrm>
            <a:off x="7898120" y="184422"/>
            <a:ext cx="4120558" cy="84013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output is generated based on the learning of the </a:t>
            </a:r>
            <a:r>
              <a:rPr lang="en-US" sz="1400" kern="0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ontextualized word STROKE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F614D1-0983-61B5-B281-2044135C88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892" y="277998"/>
            <a:ext cx="385092" cy="45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93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7" grpId="0"/>
      <p:bldP spid="18" grpId="0" animBg="1"/>
      <p:bldP spid="20" grpId="0"/>
      <p:bldP spid="22" grpId="0" animBg="1"/>
      <p:bldP spid="24" grpId="0" animBg="1"/>
      <p:bldP spid="25" grpId="0"/>
      <p:bldP spid="26" grpId="0" animBg="1"/>
      <p:bldP spid="27" grpId="0"/>
      <p:bldP spid="28" grpId="0" animBg="1"/>
      <p:bldP spid="29" grpId="0"/>
      <p:bldP spid="2" grpId="0"/>
      <p:bldP spid="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>
            <a:extLst>
              <a:ext uri="{FF2B5EF4-FFF2-40B4-BE49-F238E27FC236}">
                <a16:creationId xmlns:a16="http://schemas.microsoft.com/office/drawing/2014/main" id="{F3037912-78D1-CF53-1841-5D47279A35F6}"/>
              </a:ext>
            </a:extLst>
          </p:cNvPr>
          <p:cNvSpPr/>
          <p:nvPr/>
        </p:nvSpPr>
        <p:spPr>
          <a:xfrm>
            <a:off x="1692625" y="1053648"/>
            <a:ext cx="10232006" cy="5344023"/>
          </a:xfrm>
          <a:prstGeom prst="cloud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Yes, there are pre-built transformers available for public use.  They are called GPT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="1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GPT</a:t>
            </a:r>
            <a:r>
              <a:rPr lang="en-US" sz="2000" b="1" dirty="0">
                <a:solidFill>
                  <a:prstClr val="black"/>
                </a:solidFill>
                <a:latin typeface="Calibri" panose="020F0502020204030204"/>
              </a:rPr>
              <a:t>*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stands for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Generative Pre-trained Transformer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Generative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The model can generate new content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Pre-trained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The model is trained on a massive dataset beforehand, allowing it to perform tasks efficiently without requiring training for each specific use.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Transformer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The model utilizes Transformer networks which is built on neural network architecture.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5C8B46-538F-6EA0-7756-DF31407417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357" y="5472044"/>
            <a:ext cx="721694" cy="8617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625E5F-DACC-C98D-2D21-68C5752368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08" y="237897"/>
            <a:ext cx="424134" cy="919700"/>
          </a:xfrm>
          <a:prstGeom prst="rect">
            <a:avLst/>
          </a:prstGeom>
        </p:spPr>
      </p:pic>
      <p:sp>
        <p:nvSpPr>
          <p:cNvPr id="4" name="Cloud 3">
            <a:extLst>
              <a:ext uri="{FF2B5EF4-FFF2-40B4-BE49-F238E27FC236}">
                <a16:creationId xmlns:a16="http://schemas.microsoft.com/office/drawing/2014/main" id="{2F81783B-6B14-7349-AB66-1CA27C4D64E2}"/>
              </a:ext>
            </a:extLst>
          </p:cNvPr>
          <p:cNvSpPr/>
          <p:nvPr/>
        </p:nvSpPr>
        <p:spPr>
          <a:xfrm>
            <a:off x="933842" y="192721"/>
            <a:ext cx="5763787" cy="919701"/>
          </a:xfrm>
          <a:prstGeom prst="cloud">
            <a:avLst/>
          </a:prstGeom>
          <a:solidFill>
            <a:srgbClr val="CCE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Are there pre-built transformers available to the public?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4C5C96-2E19-62FA-9922-6D3A3A01256D}"/>
              </a:ext>
            </a:extLst>
          </p:cNvPr>
          <p:cNvSpPr txBox="1"/>
          <p:nvPr/>
        </p:nvSpPr>
        <p:spPr>
          <a:xfrm>
            <a:off x="5296355" y="6384240"/>
            <a:ext cx="7078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*GPT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 is a family of AI models built by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OpenAI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 (an AI research company)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77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014C2-DF02-E04D-B2FE-31747E339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94547DD-3F83-C851-95CC-FDC9CCA31E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820" y="4971811"/>
            <a:ext cx="721694" cy="8617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0E92BD-09B4-65B4-09C6-7B32DA0A17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08" y="237897"/>
            <a:ext cx="424134" cy="919700"/>
          </a:xfrm>
          <a:prstGeom prst="rect">
            <a:avLst/>
          </a:prstGeom>
        </p:spPr>
      </p:pic>
      <p:sp>
        <p:nvSpPr>
          <p:cNvPr id="4" name="Cloud 3">
            <a:extLst>
              <a:ext uri="{FF2B5EF4-FFF2-40B4-BE49-F238E27FC236}">
                <a16:creationId xmlns:a16="http://schemas.microsoft.com/office/drawing/2014/main" id="{5544EA7F-F292-3BBF-CF96-B50AFAEAB564}"/>
              </a:ext>
            </a:extLst>
          </p:cNvPr>
          <p:cNvSpPr/>
          <p:nvPr/>
        </p:nvSpPr>
        <p:spPr>
          <a:xfrm>
            <a:off x="1008144" y="237896"/>
            <a:ext cx="5763787" cy="919701"/>
          </a:xfrm>
          <a:prstGeom prst="cloud">
            <a:avLst/>
          </a:prstGeom>
          <a:solidFill>
            <a:srgbClr val="CCE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can you utilize the GPTs?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F12B3C-F00C-8442-C467-74B28A7E23FB}"/>
              </a:ext>
            </a:extLst>
          </p:cNvPr>
          <p:cNvSpPr txBox="1"/>
          <p:nvPr/>
        </p:nvSpPr>
        <p:spPr>
          <a:xfrm>
            <a:off x="5296355" y="6384240"/>
            <a:ext cx="7078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*GPT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 is a family of AI models built by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OpenAI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 (an AI research company)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D2AECE-8A64-FAB4-CF22-CEEE13A43258}"/>
              </a:ext>
            </a:extLst>
          </p:cNvPr>
          <p:cNvSpPr/>
          <p:nvPr/>
        </p:nvSpPr>
        <p:spPr>
          <a:xfrm>
            <a:off x="2133600" y="1941276"/>
            <a:ext cx="9192127" cy="3263581"/>
          </a:xfrm>
          <a:prstGeom prst="roundRect">
            <a:avLst/>
          </a:prstGeom>
          <a:solidFill>
            <a:srgbClr val="FFF2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You may utilize the GPTs in different ways depending on your goals.  Some major utilizations include: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0066FF"/>
                </a:solidFill>
              </a:rPr>
              <a:t>Chat-Based Interaction </a:t>
            </a:r>
            <a:r>
              <a:rPr lang="en-US" dirty="0">
                <a:solidFill>
                  <a:schemeClr val="tx1"/>
                </a:solidFill>
              </a:rPr>
              <a:t>– interactive chatting with the GPTs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0066FF"/>
                </a:solidFill>
              </a:rPr>
              <a:t>Build your own GPT </a:t>
            </a:r>
            <a:r>
              <a:rPr lang="en-US" dirty="0">
                <a:solidFill>
                  <a:schemeClr val="tx1"/>
                </a:solidFill>
              </a:rPr>
              <a:t>– You can customize the GPTs to fit your specific needs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0066FF"/>
                </a:solidFill>
              </a:rPr>
              <a:t>Writing computer applications with access to the GPT </a:t>
            </a:r>
            <a:r>
              <a:rPr lang="en-US" dirty="0">
                <a:solidFill>
                  <a:schemeClr val="tx1"/>
                </a:solidFill>
              </a:rPr>
              <a:t>– This is for computer programmer who use the Application Programming Interfaces (API) to access GPT in order to perform a certain task</a:t>
            </a:r>
          </a:p>
        </p:txBody>
      </p:sp>
    </p:spTree>
    <p:extLst>
      <p:ext uri="{BB962C8B-B14F-4D97-AF65-F5344CB8AC3E}">
        <p14:creationId xmlns:p14="http://schemas.microsoft.com/office/powerpoint/2010/main" val="304068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3F65BA-2693-D430-E943-BA3E5A327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>
            <a:extLst>
              <a:ext uri="{FF2B5EF4-FFF2-40B4-BE49-F238E27FC236}">
                <a16:creationId xmlns:a16="http://schemas.microsoft.com/office/drawing/2014/main" id="{5C8AFCC1-1578-DB9D-2846-D493B99A57DB}"/>
              </a:ext>
            </a:extLst>
          </p:cNvPr>
          <p:cNvSpPr/>
          <p:nvPr/>
        </p:nvSpPr>
        <p:spPr>
          <a:xfrm>
            <a:off x="1631642" y="423746"/>
            <a:ext cx="10560358" cy="6322742"/>
          </a:xfrm>
          <a:prstGeom prst="cloud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ChatGPT (OpenAI)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A chatbot that uses natural language processing  to create humanlike conversational dialogue. It can respond to questions and compose various written content, including articles, social media posts, essays, code and emails.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Copilot (Microsoft)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An AI-powered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assistant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 that integrates with various Microsoft applications and services.  The model offers features like content generation, task automation, and data analysis to boost productivity and streamline workflows. 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DALL-E (OpenAI)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AI-powered model that generates images from text prompts.   DALL-E can create a visual representation based on the text description. DALL-E can combine unusual concepts, create fantastical scenes, or even mimic specific artistic styles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BB8D12-A9B3-9FA7-9F70-744C4F23C5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948" y="4509517"/>
            <a:ext cx="721694" cy="8617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B6DD29-6C7F-86EC-4CF6-B2E9753C7F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27" y="131166"/>
            <a:ext cx="424134" cy="919700"/>
          </a:xfrm>
          <a:prstGeom prst="rect">
            <a:avLst/>
          </a:prstGeom>
        </p:spPr>
      </p:pic>
      <p:sp>
        <p:nvSpPr>
          <p:cNvPr id="4" name="Cloud 3">
            <a:extLst>
              <a:ext uri="{FF2B5EF4-FFF2-40B4-BE49-F238E27FC236}">
                <a16:creationId xmlns:a16="http://schemas.microsoft.com/office/drawing/2014/main" id="{9CB89151-4A86-B794-27CE-34F4229B8E56}"/>
              </a:ext>
            </a:extLst>
          </p:cNvPr>
          <p:cNvSpPr/>
          <p:nvPr/>
        </p:nvSpPr>
        <p:spPr>
          <a:xfrm>
            <a:off x="947161" y="21593"/>
            <a:ext cx="4840322" cy="861795"/>
          </a:xfrm>
          <a:prstGeom prst="cloud">
            <a:avLst/>
          </a:prstGeom>
          <a:solidFill>
            <a:srgbClr val="CCE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List some major AI models that utilize GPT</a:t>
            </a:r>
          </a:p>
        </p:txBody>
      </p:sp>
    </p:spTree>
    <p:extLst>
      <p:ext uri="{BB962C8B-B14F-4D97-AF65-F5344CB8AC3E}">
        <p14:creationId xmlns:p14="http://schemas.microsoft.com/office/powerpoint/2010/main" val="20851392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8525E-2B42-8197-60D2-3213872FA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10FF6E-6963-64A0-F5F1-5D461D3515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95" y="5738011"/>
            <a:ext cx="721694" cy="8617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A33E22-B055-F3A3-D892-368C5D685BB4}"/>
              </a:ext>
            </a:extLst>
          </p:cNvPr>
          <p:cNvSpPr txBox="1"/>
          <p:nvPr/>
        </p:nvSpPr>
        <p:spPr>
          <a:xfrm>
            <a:off x="2920290" y="11314"/>
            <a:ext cx="63514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40000"/>
                    <a:lumOff val="6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General structure of Generative AI system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1C2C99-1964-1B72-6B0E-3B59A61CB2D3}"/>
              </a:ext>
            </a:extLst>
          </p:cNvPr>
          <p:cNvSpPr txBox="1"/>
          <p:nvPr/>
        </p:nvSpPr>
        <p:spPr>
          <a:xfrm>
            <a:off x="3388571" y="4169989"/>
            <a:ext cx="1982129" cy="116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Mulish"/>
                <a:ea typeface="+mn-ea"/>
                <a:cs typeface="+mn-cs"/>
              </a:rPr>
              <a:t>Feedback layer ensures constant learning and improvement through a continuous feedback loop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E73C02-8294-8C50-5096-9EE9F13D0627}"/>
              </a:ext>
            </a:extLst>
          </p:cNvPr>
          <p:cNvSpPr txBox="1"/>
          <p:nvPr/>
        </p:nvSpPr>
        <p:spPr>
          <a:xfrm>
            <a:off x="1062285" y="5584133"/>
            <a:ext cx="354969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 principal layers of a Generative AI system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Processing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Generative Model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Feedback and Improvement 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Deployment and Integration</a:t>
            </a:r>
          </a:p>
        </p:txBody>
      </p:sp>
      <p:sp>
        <p:nvSpPr>
          <p:cNvPr id="2" name="Flowchart: Multidocument 1">
            <a:extLst>
              <a:ext uri="{FF2B5EF4-FFF2-40B4-BE49-F238E27FC236}">
                <a16:creationId xmlns:a16="http://schemas.microsoft.com/office/drawing/2014/main" id="{1502180A-6DC3-39E5-6166-E99ABF005E5E}"/>
              </a:ext>
            </a:extLst>
          </p:cNvPr>
          <p:cNvSpPr/>
          <p:nvPr/>
        </p:nvSpPr>
        <p:spPr>
          <a:xfrm>
            <a:off x="739428" y="1119989"/>
            <a:ext cx="1915886" cy="2019300"/>
          </a:xfrm>
          <a:prstGeom prst="flowChartMultidocumen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Data Processing 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311940-3D85-2882-D08A-B1D2A3A9D963}"/>
              </a:ext>
            </a:extLst>
          </p:cNvPr>
          <p:cNvSpPr txBox="1"/>
          <p:nvPr/>
        </p:nvSpPr>
        <p:spPr>
          <a:xfrm>
            <a:off x="645319" y="3140181"/>
            <a:ext cx="210410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ulish"/>
                <a:ea typeface="+mn-ea"/>
                <a:cs typeface="+mn-cs"/>
              </a:rPr>
              <a:t>Raw data – text, images, audio – must be transformed into a language that the model understands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9FD8BD-93CC-298F-B44C-FCC9D65303AA}"/>
              </a:ext>
            </a:extLst>
          </p:cNvPr>
          <p:cNvCxnSpPr/>
          <p:nvPr/>
        </p:nvCxnSpPr>
        <p:spPr>
          <a:xfrm>
            <a:off x="2728655" y="2014104"/>
            <a:ext cx="130628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3D Model 12" descr="Dodecahedron Blue">
                <a:extLst>
                  <a:ext uri="{FF2B5EF4-FFF2-40B4-BE49-F238E27FC236}">
                    <a16:creationId xmlns:a16="http://schemas.microsoft.com/office/drawing/2014/main" id="{35E77431-5626-D0C1-36FB-3D5BDF932DF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13771093"/>
                  </p:ext>
                </p:extLst>
              </p:nvPr>
            </p:nvGraphicFramePr>
            <p:xfrm>
              <a:off x="4113897" y="777371"/>
              <a:ext cx="2682759" cy="2473465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2682759" cy="2473465"/>
                    </a:xfrm>
                    <a:prstGeom prst="rect">
                      <a:avLst/>
                    </a:prstGeom>
                  </am3d:spPr>
                  <am3d:camera>
                    <am3d:pos x="0" y="0" z="8135685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3989" d="1000000"/>
                    <am3d:preTrans dx="0" dy="-17962438" dz="-35084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4712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3D Model 12" descr="Dodecahedron Blue">
                <a:extLst>
                  <a:ext uri="{FF2B5EF4-FFF2-40B4-BE49-F238E27FC236}">
                    <a16:creationId xmlns:a16="http://schemas.microsoft.com/office/drawing/2014/main" id="{35E77431-5626-D0C1-36FB-3D5BDF932DF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13897" y="777371"/>
                <a:ext cx="2682759" cy="2473465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61B29A9-28C6-35F0-1116-DF8C220F7501}"/>
              </a:ext>
            </a:extLst>
          </p:cNvPr>
          <p:cNvSpPr txBox="1"/>
          <p:nvPr/>
        </p:nvSpPr>
        <p:spPr>
          <a:xfrm>
            <a:off x="4286314" y="1829438"/>
            <a:ext cx="2430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Generative Model Layer</a:t>
            </a:r>
          </a:p>
        </p:txBody>
      </p:sp>
      <p:sp>
        <p:nvSpPr>
          <p:cNvPr id="18" name="Flowchart: Summing Junction 17">
            <a:extLst>
              <a:ext uri="{FF2B5EF4-FFF2-40B4-BE49-F238E27FC236}">
                <a16:creationId xmlns:a16="http://schemas.microsoft.com/office/drawing/2014/main" id="{C819C4E0-E271-BAC7-AFF3-6378114D76E1}"/>
              </a:ext>
            </a:extLst>
          </p:cNvPr>
          <p:cNvSpPr/>
          <p:nvPr/>
        </p:nvSpPr>
        <p:spPr>
          <a:xfrm>
            <a:off x="7559304" y="1769174"/>
            <a:ext cx="457200" cy="489857"/>
          </a:xfrm>
          <a:prstGeom prst="flowChartSummingJuncti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6D69169-AAAA-3583-3DA1-DD6008F93FD9}"/>
              </a:ext>
            </a:extLst>
          </p:cNvPr>
          <p:cNvCxnSpPr/>
          <p:nvPr/>
        </p:nvCxnSpPr>
        <p:spPr>
          <a:xfrm>
            <a:off x="6899695" y="2014103"/>
            <a:ext cx="548640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3FD6166-A11D-FF28-8157-6376D38824C5}"/>
              </a:ext>
            </a:extLst>
          </p:cNvPr>
          <p:cNvSpPr/>
          <p:nvPr/>
        </p:nvSpPr>
        <p:spPr>
          <a:xfrm>
            <a:off x="9266365" y="1529687"/>
            <a:ext cx="2351314" cy="968829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Deployment and Integration Layer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900DB06-38F5-2500-5A54-C72B6C1027BE}"/>
              </a:ext>
            </a:extLst>
          </p:cNvPr>
          <p:cNvCxnSpPr>
            <a:cxnSpLocks/>
          </p:cNvCxnSpPr>
          <p:nvPr/>
        </p:nvCxnSpPr>
        <p:spPr>
          <a:xfrm>
            <a:off x="8110129" y="2016405"/>
            <a:ext cx="106261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FA5CACB-FC20-9E6A-F1A9-3535DD75AE9B}"/>
              </a:ext>
            </a:extLst>
          </p:cNvPr>
          <p:cNvCxnSpPr>
            <a:cxnSpLocks/>
          </p:cNvCxnSpPr>
          <p:nvPr/>
        </p:nvCxnSpPr>
        <p:spPr>
          <a:xfrm>
            <a:off x="7761567" y="2432957"/>
            <a:ext cx="0" cy="199208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B31CC0D-0EAE-C3C9-3C3D-F12264EE3C6C}"/>
              </a:ext>
            </a:extLst>
          </p:cNvPr>
          <p:cNvSpPr/>
          <p:nvPr/>
        </p:nvSpPr>
        <p:spPr>
          <a:xfrm>
            <a:off x="5023832" y="4495162"/>
            <a:ext cx="3102428" cy="920180"/>
          </a:xfrm>
          <a:prstGeom prst="rect">
            <a:avLst/>
          </a:prstGeom>
          <a:solidFill>
            <a:srgbClr val="CC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Feedback and Improvement Layer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28F81AA-1FE3-2B9D-78D1-D59171165CFA}"/>
              </a:ext>
            </a:extLst>
          </p:cNvPr>
          <p:cNvCxnSpPr>
            <a:cxnSpLocks/>
          </p:cNvCxnSpPr>
          <p:nvPr/>
        </p:nvCxnSpPr>
        <p:spPr>
          <a:xfrm flipV="1">
            <a:off x="5455277" y="3267777"/>
            <a:ext cx="0" cy="106824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C933434-C3FB-22A4-806C-65CB15FD3139}"/>
              </a:ext>
            </a:extLst>
          </p:cNvPr>
          <p:cNvSpPr txBox="1"/>
          <p:nvPr/>
        </p:nvSpPr>
        <p:spPr>
          <a:xfrm>
            <a:off x="6485405" y="542084"/>
            <a:ext cx="30127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Generative layer learns from massive datasets, process the data, and then produces novel results based on that learned information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E4E816-3DB3-13D5-8CF3-3861B3B537AA}"/>
              </a:ext>
            </a:extLst>
          </p:cNvPr>
          <p:cNvSpPr txBox="1"/>
          <p:nvPr/>
        </p:nvSpPr>
        <p:spPr>
          <a:xfrm>
            <a:off x="9242433" y="2600328"/>
            <a:ext cx="26668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libri" panose="020F0502020204030204"/>
              </a:rPr>
              <a:t>This layer is responsible for making models operational and accessible in real-world applications. It ensures that AI systems are properly implemented into existing workflows, platforms, and infrastructure while maintaining efficiency, scalability, and security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532859-78F4-AB8E-5F4A-911551C70025}"/>
              </a:ext>
            </a:extLst>
          </p:cNvPr>
          <p:cNvSpPr txBox="1"/>
          <p:nvPr/>
        </p:nvSpPr>
        <p:spPr>
          <a:xfrm>
            <a:off x="5566248" y="5485461"/>
            <a:ext cx="26668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EEF0FF"/>
                </a:solidFill>
                <a:effectLst/>
                <a:latin typeface="Google Sans"/>
              </a:rPr>
              <a:t>This layer ensures the ongoing performance, reliability, and continuous improvement of the system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6231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60" presetClass="entr" presetSubtype="1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18" grpId="0" animBg="1"/>
      <p:bldP spid="20" grpId="0" animBg="1"/>
      <p:bldP spid="23" grpId="0" animBg="1"/>
      <p:bldP spid="28" grpId="0"/>
      <p:bldP spid="30" grpId="0"/>
      <p:bldP spid="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52F30C-330A-1D65-C1E2-CB0C034FB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BBFAFC9-3DDE-DDD8-B89B-1BC2FF3C04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518" y="4981443"/>
            <a:ext cx="721694" cy="8617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26804E-5598-CDBC-AA93-1E781DB2FB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61" y="231526"/>
            <a:ext cx="424134" cy="919700"/>
          </a:xfrm>
          <a:prstGeom prst="rect">
            <a:avLst/>
          </a:prstGeom>
        </p:spPr>
      </p:pic>
      <p:sp>
        <p:nvSpPr>
          <p:cNvPr id="4" name="Cloud 3">
            <a:extLst>
              <a:ext uri="{FF2B5EF4-FFF2-40B4-BE49-F238E27FC236}">
                <a16:creationId xmlns:a16="http://schemas.microsoft.com/office/drawing/2014/main" id="{22FDE9E8-99BA-DA86-C642-EA8BF45D2B6E}"/>
              </a:ext>
            </a:extLst>
          </p:cNvPr>
          <p:cNvSpPr/>
          <p:nvPr/>
        </p:nvSpPr>
        <p:spPr>
          <a:xfrm>
            <a:off x="495500" y="21593"/>
            <a:ext cx="5213924" cy="848202"/>
          </a:xfrm>
          <a:prstGeom prst="cloud">
            <a:avLst/>
          </a:prstGeom>
          <a:solidFill>
            <a:srgbClr val="CCE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List some major applications of Generative AI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8A7401-61B6-DF4D-0375-5818C9F34B44}"/>
              </a:ext>
            </a:extLst>
          </p:cNvPr>
          <p:cNvSpPr/>
          <p:nvPr/>
        </p:nvSpPr>
        <p:spPr>
          <a:xfrm>
            <a:off x="1973766" y="1271239"/>
            <a:ext cx="9601200" cy="4973444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Creation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Writing articles, blogs, poems, stories, or even generating ideas for creative project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Image Generation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Creating visuals, artwork, designs, or concepts from text descriptions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Chatbots and Virtual Assistants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Enhancing customer support, personal assistants, and conversational AI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Code Generation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Assisting developers by generating, debugging, or explaining code.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Video and Audio Production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Creating music, editing videos, generating voiceovers, or even producing synthetic voices.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Game Development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Crafting characters, game levels, and narratives to speed up the development process.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Healthcare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Simulating drug discovery, analyzing medical images, or assisting in clinical decision-making.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Education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Generating personalized learning materials, tutoring, or creating simulations for immersive learning experiences.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Science and Research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Modeling complex systems, visualizing data, or generating hypotheses for scientific inquiries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19297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928F87-DC4C-6433-D542-E51A5B3F7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C37A8FE-3004-BCEC-AC7A-E43A749AA9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518" y="4981443"/>
            <a:ext cx="721694" cy="8617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439DD5-D3FB-BF88-1487-8FA835E5A9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61" y="231526"/>
            <a:ext cx="424134" cy="919700"/>
          </a:xfrm>
          <a:prstGeom prst="rect">
            <a:avLst/>
          </a:prstGeom>
        </p:spPr>
      </p:pic>
      <p:sp>
        <p:nvSpPr>
          <p:cNvPr id="4" name="Cloud 3">
            <a:extLst>
              <a:ext uri="{FF2B5EF4-FFF2-40B4-BE49-F238E27FC236}">
                <a16:creationId xmlns:a16="http://schemas.microsoft.com/office/drawing/2014/main" id="{0F51BBAF-E585-0779-0EF1-9D575BB6F7B5}"/>
              </a:ext>
            </a:extLst>
          </p:cNvPr>
          <p:cNvSpPr/>
          <p:nvPr/>
        </p:nvSpPr>
        <p:spPr>
          <a:xfrm>
            <a:off x="495500" y="21593"/>
            <a:ext cx="5213924" cy="848202"/>
          </a:xfrm>
          <a:prstGeom prst="cloud">
            <a:avLst/>
          </a:prstGeom>
          <a:solidFill>
            <a:srgbClr val="CCE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are some major flaws of Generative models?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84067E-15A4-18AA-EF09-DB7E4292E58D}"/>
              </a:ext>
            </a:extLst>
          </p:cNvPr>
          <p:cNvSpPr/>
          <p:nvPr/>
        </p:nvSpPr>
        <p:spPr>
          <a:xfrm>
            <a:off x="2129883" y="1293542"/>
            <a:ext cx="9601200" cy="4973444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Nothing is perfect.  Here are some possible flaws of a Generative model </a:t>
            </a: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1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Bias and fairness</a:t>
            </a: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If the model has been trained on biased data, it might unintentionally reflect those biases in its outputs.</a:t>
            </a:r>
            <a:endParaRPr kumimoji="0" lang="en-US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1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Hallucinations</a:t>
            </a: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The model can fabricate facts, events, or details that have no basis in reality.</a:t>
            </a:r>
            <a:endParaRPr kumimoji="0" lang="en-US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1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Misunderstanding context</a:t>
            </a: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The model might misinterpret a question or respond in a way that lacks nuance, especially with ambiguous prompts.</a:t>
            </a:r>
            <a:endParaRPr kumimoji="0" lang="en-US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Inconsistent responses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 If asked the same question multiple times, AI might provide differing answers without a clear reason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Data Privacy Risks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: If a model is trained on sensitive or personal data, it might unintentionally release private information.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413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E06936-827B-EAFB-1CCE-EFB64EF49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DAB700E-B706-08B0-8390-F016AF5155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371" y="5408375"/>
            <a:ext cx="721694" cy="8617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42B8A90-995A-E253-E5EF-310566800E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56842" y1="7282" x2="56842" y2="7282"/>
                        <a14:foregroundMark x1="37895" y1="36893" x2="37895" y2="368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61" y="231526"/>
            <a:ext cx="424134" cy="919700"/>
          </a:xfrm>
          <a:prstGeom prst="rect">
            <a:avLst/>
          </a:prstGeom>
        </p:spPr>
      </p:pic>
      <p:sp>
        <p:nvSpPr>
          <p:cNvPr id="4" name="Cloud 3">
            <a:extLst>
              <a:ext uri="{FF2B5EF4-FFF2-40B4-BE49-F238E27FC236}">
                <a16:creationId xmlns:a16="http://schemas.microsoft.com/office/drawing/2014/main" id="{993FB3F0-C64E-E12E-A96A-E6D3796BD4C2}"/>
              </a:ext>
            </a:extLst>
          </p:cNvPr>
          <p:cNvSpPr/>
          <p:nvPr/>
        </p:nvSpPr>
        <p:spPr>
          <a:xfrm>
            <a:off x="495500" y="21593"/>
            <a:ext cx="5213924" cy="848202"/>
          </a:xfrm>
          <a:prstGeom prst="cloud">
            <a:avLst/>
          </a:prstGeom>
          <a:solidFill>
            <a:srgbClr val="CCE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Show some real-life examples of generative AI?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727868C2-4B65-503E-BBE5-BF0AE743288B}"/>
              </a:ext>
            </a:extLst>
          </p:cNvPr>
          <p:cNvSpPr/>
          <p:nvPr/>
        </p:nvSpPr>
        <p:spPr>
          <a:xfrm>
            <a:off x="1389371" y="869795"/>
            <a:ext cx="9812029" cy="4682323"/>
          </a:xfrm>
          <a:prstGeom prst="cloud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can try some real-life experience with Generative AI by posing a same question to the three popular Generative AI models:  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ChatGPT (OpenAI)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Copilot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(Microsoft)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Gemini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(Google)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69128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929BB3-2934-2C92-7A17-B48034A36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05619FB-3638-C213-A0F2-15C50B91F9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790" y="4493975"/>
            <a:ext cx="721694" cy="861796"/>
          </a:xfrm>
          <a:prstGeom prst="rect">
            <a:avLst/>
          </a:prstGeom>
        </p:spPr>
      </p:pic>
      <p:sp>
        <p:nvSpPr>
          <p:cNvPr id="5" name="Cloud 4">
            <a:extLst>
              <a:ext uri="{FF2B5EF4-FFF2-40B4-BE49-F238E27FC236}">
                <a16:creationId xmlns:a16="http://schemas.microsoft.com/office/drawing/2014/main" id="{B741CE20-DE3F-5A4C-86A4-04E5BFBA6EFF}"/>
              </a:ext>
            </a:extLst>
          </p:cNvPr>
          <p:cNvSpPr/>
          <p:nvPr/>
        </p:nvSpPr>
        <p:spPr>
          <a:xfrm>
            <a:off x="1189985" y="726053"/>
            <a:ext cx="10585703" cy="4392358"/>
          </a:xfrm>
          <a:prstGeom prst="cloud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will use the following sequence as the input prompt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“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cause of ischemic stroke”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48235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ABB55D-CF27-E870-FEA2-AD7C063E7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medical information&#10;&#10;AI-generated content may be incorrect.">
            <a:extLst>
              <a:ext uri="{FF2B5EF4-FFF2-40B4-BE49-F238E27FC236}">
                <a16:creationId xmlns:a16="http://schemas.microsoft.com/office/drawing/2014/main" id="{409E1FD5-92AA-49DF-BE97-CAC4CDE537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18" y="49007"/>
            <a:ext cx="4660823" cy="441334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28169AC-FD61-D52D-02AF-3DCA62EC1CF8}"/>
              </a:ext>
            </a:extLst>
          </p:cNvPr>
          <p:cNvSpPr/>
          <p:nvPr/>
        </p:nvSpPr>
        <p:spPr>
          <a:xfrm>
            <a:off x="412982" y="161857"/>
            <a:ext cx="2155515" cy="292746"/>
          </a:xfrm>
          <a:prstGeom prst="roundRect">
            <a:avLst/>
          </a:prstGeom>
          <a:solidFill>
            <a:srgbClr val="FFFF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Response from ChatGPT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E98C07-EFDA-4ED6-C4A6-A3D82A87B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9007"/>
            <a:ext cx="4759738" cy="31446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F37322-87CE-C081-29FC-1DFE408BB5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927" y="3306501"/>
            <a:ext cx="4331884" cy="3426205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ED0157F-3C03-F6CE-F3F9-04141A5618E5}"/>
              </a:ext>
            </a:extLst>
          </p:cNvPr>
          <p:cNvSpPr/>
          <p:nvPr/>
        </p:nvSpPr>
        <p:spPr>
          <a:xfrm>
            <a:off x="6309927" y="128334"/>
            <a:ext cx="1930557" cy="359792"/>
          </a:xfrm>
          <a:prstGeom prst="roundRect">
            <a:avLst/>
          </a:prstGeom>
          <a:solidFill>
            <a:srgbClr val="FFFF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Response from Copilot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C6628F1-C745-E27A-B78D-B50B1BDF90AB}"/>
              </a:ext>
            </a:extLst>
          </p:cNvPr>
          <p:cNvSpPr/>
          <p:nvPr/>
        </p:nvSpPr>
        <p:spPr>
          <a:xfrm>
            <a:off x="6534160" y="3412273"/>
            <a:ext cx="1941709" cy="315188"/>
          </a:xfrm>
          <a:prstGeom prst="roundRect">
            <a:avLst/>
          </a:prstGeom>
          <a:solidFill>
            <a:srgbClr val="FFFF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Response from Gemini</a:t>
            </a:r>
          </a:p>
        </p:txBody>
      </p:sp>
      <p:sp>
        <p:nvSpPr>
          <p:cNvPr id="10" name="Cloud 9">
            <a:extLst>
              <a:ext uri="{FF2B5EF4-FFF2-40B4-BE49-F238E27FC236}">
                <a16:creationId xmlns:a16="http://schemas.microsoft.com/office/drawing/2014/main" id="{5C839932-8395-CCC0-06BE-D78376E6824E}"/>
              </a:ext>
            </a:extLst>
          </p:cNvPr>
          <p:cNvSpPr/>
          <p:nvPr/>
        </p:nvSpPr>
        <p:spPr>
          <a:xfrm>
            <a:off x="733965" y="4985921"/>
            <a:ext cx="4204809" cy="1237067"/>
          </a:xfrm>
          <a:prstGeom prst="cloud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can compare the similarities and differences among the responses from different models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17114F-4A08-3DF3-1162-F377FCF2327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11" y="5834347"/>
            <a:ext cx="721694" cy="86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1338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BD62D2-E908-F627-0721-9A5BAD8C8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loud 9">
            <a:extLst>
              <a:ext uri="{FF2B5EF4-FFF2-40B4-BE49-F238E27FC236}">
                <a16:creationId xmlns:a16="http://schemas.microsoft.com/office/drawing/2014/main" id="{BAAF4755-8070-3A5B-E310-6109192B10E7}"/>
              </a:ext>
            </a:extLst>
          </p:cNvPr>
          <p:cNvSpPr/>
          <p:nvPr/>
        </p:nvSpPr>
        <p:spPr>
          <a:xfrm>
            <a:off x="2803396" y="1087689"/>
            <a:ext cx="6912772" cy="3933489"/>
          </a:xfrm>
          <a:prstGeom prst="cloud">
            <a:avLst/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Just in case you would like to know more about mathematical</a:t>
            </a: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 theory of Attention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166E80-98E4-3B5B-75E4-F175264A65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775" y="4727441"/>
            <a:ext cx="721694" cy="86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9130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148E05-FD7B-FD6F-7033-7C18D073D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06E4C3-E227-A1D4-1098-5A60DE8399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32" y="5348983"/>
            <a:ext cx="770184" cy="919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66001E-C6A0-4D9E-79AD-C23FB58F6561}"/>
              </a:ext>
            </a:extLst>
          </p:cNvPr>
          <p:cNvSpPr txBox="1"/>
          <p:nvPr/>
        </p:nvSpPr>
        <p:spPr>
          <a:xfrm>
            <a:off x="569079" y="1279138"/>
            <a:ext cx="1072468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concept of Attention in AI gained prominence with the introduction of the Attention mechanism in neural networks.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landmark paper titled "</a:t>
            </a: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Neural Machine Translation by Jointly Learning to Align and Translate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 by Bahdanau, Cho, and Bengio in 2014 introduced this idea. This work laid the foundation for subsequent advancements in attention-based models.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Later the publication of the research paper "</a:t>
            </a: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 Is All You Need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 by Vaswani et al. in 2017, which also introduced the new deep learning architecture known as the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Transformer 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paper presented the self-attention mechanism, which became a cornerstone of modern Generative AI models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86F7637-2D5B-80BE-E0F2-9D12957C8379}"/>
              </a:ext>
            </a:extLst>
          </p:cNvPr>
          <p:cNvSpPr/>
          <p:nvPr/>
        </p:nvSpPr>
        <p:spPr>
          <a:xfrm>
            <a:off x="1228412" y="326190"/>
            <a:ext cx="9406021" cy="728359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History of theory of Mathematical Attention </a:t>
            </a:r>
          </a:p>
        </p:txBody>
      </p:sp>
    </p:spTree>
    <p:extLst>
      <p:ext uri="{BB962C8B-B14F-4D97-AF65-F5344CB8AC3E}">
        <p14:creationId xmlns:p14="http://schemas.microsoft.com/office/powerpoint/2010/main" val="17140714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F64368-E9D0-432F-F337-A8058025D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D6B853-F2E1-26C0-28D2-8A545FB02D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930" y="5148260"/>
            <a:ext cx="770184" cy="919700"/>
          </a:xfrm>
          <a:prstGeom prst="rect">
            <a:avLst/>
          </a:prstGeom>
        </p:spPr>
      </p:pic>
      <p:pic>
        <p:nvPicPr>
          <p:cNvPr id="3" name="Picture 2" descr="A close up of a document&#10;&#10;AI-generated content may be incorrect.">
            <a:extLst>
              <a:ext uri="{FF2B5EF4-FFF2-40B4-BE49-F238E27FC236}">
                <a16:creationId xmlns:a16="http://schemas.microsoft.com/office/drawing/2014/main" id="{6DA539D8-2567-D34E-4EAC-7B66A91026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321" y="115407"/>
            <a:ext cx="5114637" cy="554639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927B4B1-02B6-0FAB-5F7A-EC48BB27DC4F}"/>
              </a:ext>
            </a:extLst>
          </p:cNvPr>
          <p:cNvSpPr/>
          <p:nvPr/>
        </p:nvSpPr>
        <p:spPr>
          <a:xfrm>
            <a:off x="516169" y="2979577"/>
            <a:ext cx="3975619" cy="20416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Here is the original paper on the mathematical foundation of Attention and Transformer model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0E779D-3E65-0FB5-F13B-AAF881A6D74D}"/>
              </a:ext>
            </a:extLst>
          </p:cNvPr>
          <p:cNvSpPr txBox="1"/>
          <p:nvPr/>
        </p:nvSpPr>
        <p:spPr>
          <a:xfrm>
            <a:off x="4459701" y="5768471"/>
            <a:ext cx="7620003" cy="835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Vaswani, A., Shazeer, N., Parmar, N., Uszkoreit, J., Jones, L., Gomez, A. N., Kaiser, Ł., &amp; Polosukhin, I. (2017).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 is all you need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arXiv preprint arXiv:1706.03762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Retrieved from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67805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0932777-5B58-90C8-F58C-F8FD4D97D2C5}"/>
              </a:ext>
            </a:extLst>
          </p:cNvPr>
          <p:cNvSpPr txBox="1">
            <a:spLocks/>
          </p:cNvSpPr>
          <p:nvPr/>
        </p:nvSpPr>
        <p:spPr>
          <a:xfrm>
            <a:off x="739186" y="1472896"/>
            <a:ext cx="10652942" cy="4569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F243821-93BB-8E73-0292-69278DAD80C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485029" cy="899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9541F1F-853E-23DE-A3E6-4EC8AEA17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030629" cy="769002"/>
          </a:xfrm>
        </p:spPr>
        <p:txBody>
          <a:bodyPr/>
          <a:lstStyle/>
          <a:p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Conclusion</a:t>
            </a:r>
            <a:endParaRPr lang="en-US" dirty="0">
              <a:solidFill>
                <a:srgbClr val="FFFFCC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85A4AC-0EA5-09C7-B74C-125BD47FE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134128"/>
            <a:ext cx="10161336" cy="5065950"/>
          </a:xfrm>
        </p:spPr>
        <p:txBody>
          <a:bodyPr>
            <a:normAutofit fontScale="92500" lnSpcReduction="20000"/>
          </a:bodyPr>
          <a:lstStyle/>
          <a:p>
            <a:r>
              <a:rPr lang="en-US" b="0" i="0" u="none" strike="noStrike" dirty="0">
                <a:solidFill>
                  <a:schemeClr val="bg1"/>
                </a:solidFill>
                <a:effectLst/>
              </a:rPr>
              <a:t>Machine and deep learning are subsets of AI where models learn patterns from data to make predictions or decisions.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Generative AI is a subset of deep learning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Generative AI is a type of artificial intelligence that can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ea typeface="+mn-ea"/>
                <a:cs typeface="+mn-cs"/>
              </a:rPr>
              <a:t>create new content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, like text, images, music, or videos, based on patterns learned from existing data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Generative AI typically has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ea typeface="+mn-ea"/>
                <a:cs typeface="+mn-cs"/>
              </a:rPr>
              <a:t>Encoder-Decoder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architecture for data processing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“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ea typeface="+mn-ea"/>
                <a:cs typeface="+mn-cs"/>
              </a:rPr>
              <a:t>Attention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” mechanism is a pivotal in generative AI.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ea typeface="+mn-ea"/>
                <a:cs typeface="+mn-cs"/>
              </a:rPr>
              <a:t>Attention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gives generative AI models the ability to selectively focus on the most important parts of their input, leading to more accurate, coherent, and contextually relevant outputs.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Generative AI can be used for a wide variety of applications in various industries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Generative has its own flaws.  Use it wisely!</a:t>
            </a:r>
          </a:p>
        </p:txBody>
      </p:sp>
    </p:spTree>
    <p:extLst>
      <p:ext uri="{BB962C8B-B14F-4D97-AF65-F5344CB8AC3E}">
        <p14:creationId xmlns:p14="http://schemas.microsoft.com/office/powerpoint/2010/main" val="14505247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7B8A933-6A05-1299-D9B0-A4DC3297EC70}"/>
              </a:ext>
            </a:extLst>
          </p:cNvPr>
          <p:cNvSpPr txBox="1">
            <a:spLocks/>
          </p:cNvSpPr>
          <p:nvPr/>
        </p:nvSpPr>
        <p:spPr>
          <a:xfrm>
            <a:off x="417562" y="1106958"/>
            <a:ext cx="11380428" cy="4791643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ARTICLES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Chartrand G, Cheng P, Vorontsov E et al. “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Deep Learning: A Primer for Radiologists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”. </a:t>
            </a: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Radiographics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. 2017;37(7):2113-2131.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Suzuki K. “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Overview of deep learning in medical imaging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”. </a:t>
            </a: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Radiol Phys Technol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. 2017 Sep;10(3)257-273.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Vaswani, A., Shazeer, N., Parmar, N., Uszkoreit, J., Jones, L., Gomez, A. N., Kaiser, Ł., &amp; Polosukhin, I. (2017).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 is all you need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arXiv preprint arXiv:1706.03762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Retrieved from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BOOKS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Aggarwal C. </a:t>
            </a: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Neural Networks and Deep Learning</a:t>
            </a: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: A Textbook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. Springer, 2018. Print.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Musiol, M. (2023). </a:t>
            </a: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Generative AI: Navigating the course to the artificial general intelligence future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AI Publishing.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737EB9-7FAE-7ADD-9220-FC39021CBFF6}"/>
              </a:ext>
            </a:extLst>
          </p:cNvPr>
          <p:cNvSpPr txBox="1"/>
          <p:nvPr/>
        </p:nvSpPr>
        <p:spPr>
          <a:xfrm>
            <a:off x="4690652" y="399072"/>
            <a:ext cx="28317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References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6F503A-A1BB-271A-6E2E-69CBBD412B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6" y="0"/>
            <a:ext cx="793032" cy="12161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B82349-9AA1-808A-61B6-075318E0764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8968" y="39794"/>
            <a:ext cx="793032" cy="1216152"/>
          </a:xfrm>
          <a:prstGeom prst="rect">
            <a:avLst/>
          </a:prstGeom>
        </p:spPr>
      </p:pic>
      <p:pic>
        <p:nvPicPr>
          <p:cNvPr id="11" name="Google Shape;156;p28">
            <a:extLst>
              <a:ext uri="{FF2B5EF4-FFF2-40B4-BE49-F238E27FC236}">
                <a16:creationId xmlns:a16="http://schemas.microsoft.com/office/drawing/2014/main" id="{101FFAB1-0B1A-10EF-37EB-5B0750E7E1D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73075" y="6047589"/>
            <a:ext cx="3018924" cy="8104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22359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737EB9-7FAE-7ADD-9220-FC39021CBFF6}"/>
              </a:ext>
            </a:extLst>
          </p:cNvPr>
          <p:cNvSpPr txBox="1"/>
          <p:nvPr/>
        </p:nvSpPr>
        <p:spPr>
          <a:xfrm>
            <a:off x="3493988" y="354705"/>
            <a:ext cx="45208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Author Information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72C67B-E0AF-1C03-EC74-E6F6B0B340A3}"/>
              </a:ext>
            </a:extLst>
          </p:cNvPr>
          <p:cNvSpPr txBox="1"/>
          <p:nvPr/>
        </p:nvSpPr>
        <p:spPr>
          <a:xfrm>
            <a:off x="1932664" y="5903639"/>
            <a:ext cx="563244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Contact Information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Jeremy Binh Nguyen, MD, FACR, Email: </a:t>
            </a: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srgbClr val="CCEC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jnguye2@tulane.edu</a:t>
            </a:r>
            <a:endParaRPr kumimoji="0" lang="en-US" sz="1600" b="1" i="1" u="none" strike="noStrike" kern="0" cap="none" spc="0" normalizeH="0" baseline="0" noProof="0" dirty="0">
              <a:ln>
                <a:noFill/>
              </a:ln>
              <a:solidFill>
                <a:srgbClr val="CCECFF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6F503A-A1BB-271A-6E2E-69CBBD412B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6" y="0"/>
            <a:ext cx="793032" cy="12161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B82349-9AA1-808A-61B6-075318E0764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8968" y="39794"/>
            <a:ext cx="793032" cy="1216152"/>
          </a:xfrm>
          <a:prstGeom prst="rect">
            <a:avLst/>
          </a:prstGeom>
        </p:spPr>
      </p:pic>
      <p:pic>
        <p:nvPicPr>
          <p:cNvPr id="11" name="Google Shape;156;p28">
            <a:extLst>
              <a:ext uri="{FF2B5EF4-FFF2-40B4-BE49-F238E27FC236}">
                <a16:creationId xmlns:a16="http://schemas.microsoft.com/office/drawing/2014/main" id="{101FFAB1-0B1A-10EF-37EB-5B0750E7E1D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73075" y="6047589"/>
            <a:ext cx="3018924" cy="810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person wearing glasses and a suit&#10;&#10;Description automatically generated">
            <a:extLst>
              <a:ext uri="{FF2B5EF4-FFF2-40B4-BE49-F238E27FC236}">
                <a16:creationId xmlns:a16="http://schemas.microsoft.com/office/drawing/2014/main" id="{326577F8-1CAC-2160-745D-C4AE9D7818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41" y="1127841"/>
            <a:ext cx="1192116" cy="14582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7557ECF-A705-7A31-6DB5-F2F2465CD394}"/>
              </a:ext>
            </a:extLst>
          </p:cNvPr>
          <p:cNvSpPr txBox="1"/>
          <p:nvPr/>
        </p:nvSpPr>
        <p:spPr>
          <a:xfrm>
            <a:off x="253350" y="2613721"/>
            <a:ext cx="29132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Jeremy Nguyen, MD, FACR.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Professor of Radiology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Tulane University School of Medicine </a:t>
            </a:r>
          </a:p>
        </p:txBody>
      </p:sp>
      <p:pic>
        <p:nvPicPr>
          <p:cNvPr id="14" name="Picture 13" descr="A close-up of a person smiling&#10;&#10;Description automatically generated">
            <a:extLst>
              <a:ext uri="{FF2B5EF4-FFF2-40B4-BE49-F238E27FC236}">
                <a16:creationId xmlns:a16="http://schemas.microsoft.com/office/drawing/2014/main" id="{48836CE0-0A8C-05E2-E6C9-80F0EEDCDC2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737" y="1216152"/>
            <a:ext cx="1040727" cy="140535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AAFB9AA-4C25-B705-4138-FFB880819F95}"/>
              </a:ext>
            </a:extLst>
          </p:cNvPr>
          <p:cNvSpPr txBox="1"/>
          <p:nvPr/>
        </p:nvSpPr>
        <p:spPr>
          <a:xfrm>
            <a:off x="3211628" y="2638142"/>
            <a:ext cx="286049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Cynthia Hanemann, MD, FACR, Professor of Radiology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Tulane University School of Medicine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0AE590-A7F4-6475-1AF0-4052F822821D}"/>
              </a:ext>
            </a:extLst>
          </p:cNvPr>
          <p:cNvSpPr txBox="1"/>
          <p:nvPr/>
        </p:nvSpPr>
        <p:spPr>
          <a:xfrm>
            <a:off x="3166647" y="5092673"/>
            <a:ext cx="29859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Janis Park, MS,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i="1" kern="0" dirty="0">
                <a:solidFill>
                  <a:prstClr val="white"/>
                </a:solidFill>
                <a:latin typeface="Calibri" panose="020F0502020204030204"/>
                <a:cs typeface="Arial" pitchFamily="34" charset="0"/>
              </a:rPr>
              <a:t>3</a:t>
            </a:r>
            <a:r>
              <a:rPr lang="en-US" sz="1400" i="1" kern="0" baseline="30000" dirty="0">
                <a:solidFill>
                  <a:prstClr val="white"/>
                </a:solidFill>
                <a:latin typeface="Calibri" panose="020F0502020204030204"/>
                <a:cs typeface="Arial" pitchFamily="34" charset="0"/>
              </a:rPr>
              <a:t>rd</a:t>
            </a:r>
            <a:r>
              <a:rPr lang="en-US" sz="1400" i="1" kern="0" dirty="0">
                <a:solidFill>
                  <a:prstClr val="white"/>
                </a:solidFill>
                <a:latin typeface="Calibri" panose="020F0502020204030204"/>
                <a:cs typeface="Arial" pitchFamily="34" charset="0"/>
              </a:rPr>
              <a:t> </a:t>
            </a: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year medical student (MSIII)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Tulane University School of Medicine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AE18C7-5711-D1C5-8270-B3DD0EC0E363}"/>
              </a:ext>
            </a:extLst>
          </p:cNvPr>
          <p:cNvSpPr txBox="1"/>
          <p:nvPr/>
        </p:nvSpPr>
        <p:spPr>
          <a:xfrm>
            <a:off x="6117313" y="2668638"/>
            <a:ext cx="30557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Gautam, MD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PGY5 Radiology Resident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Tulane University School of Medicine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BEFDCD-B466-0A1B-21F4-4112B70D97E5}"/>
              </a:ext>
            </a:extLst>
          </p:cNvPr>
          <p:cNvSpPr txBox="1"/>
          <p:nvPr/>
        </p:nvSpPr>
        <p:spPr>
          <a:xfrm>
            <a:off x="9278703" y="2714839"/>
            <a:ext cx="2913297" cy="73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Haley Gould, MD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PGY3 Radiology Resident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Tulane University School of Medicine </a:t>
            </a:r>
          </a:p>
        </p:txBody>
      </p:sp>
      <p:pic>
        <p:nvPicPr>
          <p:cNvPr id="18" name="Picture 17" descr="A person in a white coat&#10;&#10;AI-generated content may be incorrect.">
            <a:extLst>
              <a:ext uri="{FF2B5EF4-FFF2-40B4-BE49-F238E27FC236}">
                <a16:creationId xmlns:a16="http://schemas.microsoft.com/office/drawing/2014/main" id="{444D438A-D9CB-2DA6-2225-9ECEE28DBAE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543" y="1213056"/>
            <a:ext cx="1380148" cy="1380148"/>
          </a:xfrm>
          <a:prstGeom prst="rect">
            <a:avLst/>
          </a:prstGeom>
        </p:spPr>
      </p:pic>
      <p:pic>
        <p:nvPicPr>
          <p:cNvPr id="8" name="Picture 7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A5531DE1-0652-0AC5-7D52-E9E097810F5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737" y="3539570"/>
            <a:ext cx="1137316" cy="1480801"/>
          </a:xfrm>
          <a:prstGeom prst="rect">
            <a:avLst/>
          </a:prstGeom>
        </p:spPr>
      </p:pic>
      <p:pic>
        <p:nvPicPr>
          <p:cNvPr id="17" name="Picture 16" descr="A person in a white lab coat&#10;&#10;AI-generated content may be incorrect.">
            <a:extLst>
              <a:ext uri="{FF2B5EF4-FFF2-40B4-BE49-F238E27FC236}">
                <a16:creationId xmlns:a16="http://schemas.microsoft.com/office/drawing/2014/main" id="{16241C5E-4E6D-015F-40E8-685B0587301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480" y="1180310"/>
            <a:ext cx="1280057" cy="14456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0B5290-A1F6-714C-8602-913EEA8742E7}"/>
              </a:ext>
            </a:extLst>
          </p:cNvPr>
          <p:cNvSpPr txBox="1"/>
          <p:nvPr/>
        </p:nvSpPr>
        <p:spPr>
          <a:xfrm>
            <a:off x="6596984" y="5089541"/>
            <a:ext cx="29859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i="1" kern="0" dirty="0">
                <a:solidFill>
                  <a:prstClr val="white"/>
                </a:solidFill>
                <a:latin typeface="Calibri" panose="020F0502020204030204"/>
                <a:cs typeface="Arial" pitchFamily="34" charset="0"/>
              </a:rPr>
              <a:t>Brandon Nguyen</a:t>
            </a:r>
            <a:endParaRPr kumimoji="0" lang="en-US" sz="14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i="1" kern="0" dirty="0">
                <a:solidFill>
                  <a:prstClr val="white"/>
                </a:solidFill>
                <a:latin typeface="Calibri" panose="020F0502020204030204"/>
                <a:cs typeface="Arial" pitchFamily="34" charset="0"/>
              </a:rPr>
              <a:t>1</a:t>
            </a:r>
            <a:r>
              <a:rPr lang="en-US" sz="1400" i="1" kern="0" baseline="30000" dirty="0">
                <a:solidFill>
                  <a:prstClr val="white"/>
                </a:solidFill>
                <a:latin typeface="Calibri" panose="020F0502020204030204"/>
                <a:cs typeface="Arial" pitchFamily="34" charset="0"/>
              </a:rPr>
              <a:t>st</a:t>
            </a:r>
            <a:r>
              <a:rPr lang="en-US" sz="1400" i="1" kern="0" dirty="0">
                <a:solidFill>
                  <a:prstClr val="white"/>
                </a:solidFill>
                <a:latin typeface="Calibri" panose="020F0502020204030204"/>
                <a:cs typeface="Arial" pitchFamily="34" charset="0"/>
              </a:rPr>
              <a:t> year university student </a:t>
            </a:r>
            <a:endParaRPr kumimoji="0" lang="en-US" sz="14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Tulane University</a:t>
            </a:r>
          </a:p>
        </p:txBody>
      </p:sp>
      <p:pic>
        <p:nvPicPr>
          <p:cNvPr id="13" name="Picture 12" descr="A smiling young person in a white shirt&#10;&#10;AI-generated content may be incorrect.">
            <a:extLst>
              <a:ext uri="{FF2B5EF4-FFF2-40B4-BE49-F238E27FC236}">
                <a16:creationId xmlns:a16="http://schemas.microsoft.com/office/drawing/2014/main" id="{20DFE3C3-F8B7-3ECA-F1FC-EA738D7AEEE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841" y="3592039"/>
            <a:ext cx="1452123" cy="149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98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22739</TotalTime>
  <Words>3985</Words>
  <Application>Microsoft Office PowerPoint</Application>
  <PresentationFormat>Widescreen</PresentationFormat>
  <Paragraphs>435</Paragraphs>
  <Slides>56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73" baseType="lpstr">
      <vt:lpstr>Aptos</vt:lpstr>
      <vt:lpstr>Arial</vt:lpstr>
      <vt:lpstr>Calibri</vt:lpstr>
      <vt:lpstr>Calibri Light</vt:lpstr>
      <vt:lpstr>Cambria Math</vt:lpstr>
      <vt:lpstr>Fairwater Script</vt:lpstr>
      <vt:lpstr>Google Sans</vt:lpstr>
      <vt:lpstr>IBM Plex Sans</vt:lpstr>
      <vt:lpstr>Inter</vt:lpstr>
      <vt:lpstr>Lucida Calligraphy</vt:lpstr>
      <vt:lpstr>Lucida Sans Unicode</vt:lpstr>
      <vt:lpstr>Mulish</vt:lpstr>
      <vt:lpstr>Symbol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Fast “Tract” to Understanding Diffusion Tensor Imaging and Tractography, Learning Made Easy</dc:title>
  <dc:creator>Jeremy NGuyen</dc:creator>
  <cp:lastModifiedBy>Nguyen, Jeremy B</cp:lastModifiedBy>
  <cp:revision>863</cp:revision>
  <dcterms:created xsi:type="dcterms:W3CDTF">2014-08-28T01:07:28Z</dcterms:created>
  <dcterms:modified xsi:type="dcterms:W3CDTF">2025-10-02T01:40:33Z</dcterms:modified>
</cp:coreProperties>
</file>